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200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9144000" cy="36576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-914400" y="2926080"/>
            <a:ext cx="10972800" cy="5486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457200"/>
            <a:ext cx="1097280" cy="109728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589520" y="274320"/>
            <a:ext cx="731520" cy="73152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0" y="502920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XYZ Mobile 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743200"/>
            <a:ext cx="6400800" cy="7315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92608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991B1B"/>
                </a:solidFill>
              </a:defRPr>
            </a:pPr>
            <a:r>
              <a:t>Performance &amp; Release Management Diagnostic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BBF24"/>
                </a:solidFill>
              </a:defRPr>
            </a:pPr>
            <a:r>
              <a:t>XYZ Company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39"/>
            <a:ext cx="9144000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182880"/>
            <a:ext cx="731520" cy="7315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914400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228600"/>
            <a:ext cx="457200" cy="457200"/>
          </a:xfrm>
          <a:prstGeom prst="ellipse">
            <a:avLst/>
          </a:prstGeom>
          <a:solidFill>
            <a:srgbClr val="FBBF24"/>
          </a:solidFill>
          <a:ln w="2540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860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Our Understanding of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374151"/>
                </a:solidFill>
              </a:defRPr>
            </a:pPr>
            <a:r>
              <a:t>Client seeks a comprehensive diagnostic-driven assessment: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37360"/>
            <a:ext cx="3931920" cy="146304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48640" y="1828800"/>
            <a:ext cx="365760" cy="36576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874519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991B1B"/>
                </a:solidFill>
              </a:defRPr>
            </a:pPr>
            <a:r>
              <a:t>Analyze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28600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74151"/>
                </a:solidFill>
              </a:defRPr>
            </a:pPr>
            <a:r>
              <a:t>Mobile app latency across Home, Insurance, Spend Track, Quiz &amp; other key user flows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1737360"/>
            <a:ext cx="3931920" cy="1463040"/>
          </a:xfrm>
          <a:prstGeom prst="roundRect">
            <a:avLst/>
          </a:prstGeom>
          <a:solidFill>
            <a:srgbClr val="FEFCE8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46320" y="1828800"/>
            <a:ext cx="365760" cy="3657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1874519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991B1B"/>
                </a:solidFill>
              </a:defRPr>
            </a:pPr>
            <a:r>
              <a:t>Identify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228600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74151"/>
                </a:solidFill>
              </a:defRPr>
            </a:pPr>
            <a:r>
              <a:t>Root causes behind long load times (6 sec current vs 2-3 sec market benchmark)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383280"/>
            <a:ext cx="3931920" cy="146304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640" y="3474720"/>
            <a:ext cx="365760" cy="36576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5204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991B1B"/>
                </a:solidFill>
              </a:defRPr>
            </a:pPr>
            <a:r>
              <a:t>Understand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93192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74151"/>
                </a:solidFill>
              </a:defRPr>
            </a:pPr>
            <a:r>
              <a:t>App size inflation patterns (Android: 160MB→400MB+; iOS: 402MB)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0" y="3383280"/>
            <a:ext cx="3931920" cy="1463040"/>
          </a:xfrm>
          <a:prstGeom prst="roundRect">
            <a:avLst/>
          </a:prstGeom>
          <a:solidFill>
            <a:srgbClr val="FEFCE8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46320" y="3474720"/>
            <a:ext cx="365760" cy="3657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35204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991B1B"/>
                </a:solidFill>
              </a:defRPr>
            </a:pPr>
            <a:r>
              <a:t>Determine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393192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74151"/>
                </a:solidFill>
              </a:defRPr>
            </a:pPr>
            <a:r>
              <a:t>Feasibility of moving to a monthly release cycle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029200"/>
            <a:ext cx="3931920" cy="146304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48640" y="5120640"/>
            <a:ext cx="365760" cy="36576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1663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991B1B"/>
                </a:solidFill>
              </a:defRPr>
            </a:pPr>
            <a:r>
              <a:t>Recommend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57784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74151"/>
                </a:solidFill>
              </a:defRPr>
            </a:pPr>
            <a:r>
              <a:t>Fixes backed by measurable Root Cause Analysis - no assumptions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0" y="5029200"/>
            <a:ext cx="3931920" cy="1463040"/>
          </a:xfrm>
          <a:prstGeom prst="roundRect">
            <a:avLst/>
          </a:prstGeom>
          <a:solidFill>
            <a:srgbClr val="FEFCE8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846320" y="5120640"/>
            <a:ext cx="365760" cy="3657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0" y="51663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991B1B"/>
                </a:solidFill>
              </a:defRPr>
            </a:pPr>
            <a:r>
              <a:t>Provide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557784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74151"/>
                </a:solidFill>
              </a:defRPr>
            </a:pPr>
            <a:r>
              <a:t>North Star performance vision to guide long-term optimization strategy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39"/>
            <a:ext cx="9144000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182880"/>
            <a:ext cx="731520" cy="7315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914400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228600"/>
            <a:ext cx="457200" cy="457200"/>
          </a:xfrm>
          <a:prstGeom prst="ellipse">
            <a:avLst/>
          </a:prstGeom>
          <a:solidFill>
            <a:srgbClr val="FBBF24"/>
          </a:solidFill>
          <a:ln w="2540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860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Scope of Diagnostic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280160"/>
            <a:ext cx="4206240" cy="484632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4206240" cy="5486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389888"/>
            <a:ext cx="4206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🔧 AB Team Resources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116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91B1B"/>
                </a:solidFill>
              </a:defRPr>
            </a:pPr>
            <a:r>
              <a:t>▸ Mobile Performance Lead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331720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74151"/>
                </a:solidFill>
              </a:defRPr>
            </a:pPr>
            <a:r>
              <a:t>Flutter Expert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74320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91B1B"/>
                </a:solidFill>
              </a:defRPr>
            </a:pPr>
            <a:r>
              <a:t>▸ Mobile Performance Engineer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063240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74151"/>
                </a:solidFill>
              </a:defRPr>
            </a:pPr>
            <a:r>
              <a:t>Code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47472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91B1B"/>
                </a:solidFill>
              </a:defRPr>
            </a:pPr>
            <a:r>
              <a:t>▸ Engineering Manager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794759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74151"/>
                </a:solidFill>
              </a:defRPr>
            </a:pPr>
            <a:r>
              <a:t>Program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11480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C2626"/>
                </a:solidFill>
              </a:defRPr>
            </a:pPr>
            <a:r>
              <a:t>📋 Key Activities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805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74151"/>
                </a:solidFill>
              </a:defRPr>
            </a:pPr>
            <a:r>
              <a:t>• Access setup: source code, UAT builds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006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74151"/>
                </a:solidFill>
              </a:defRPr>
            </a:pPr>
            <a:r>
              <a:t>• Journey &amp; technical walkthrough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1206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74151"/>
                </a:solidFill>
              </a:defRPr>
            </a:pPr>
            <a:r>
              <a:t>• Environment &amp; build readiness confirmation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1280160"/>
            <a:ext cx="4114800" cy="4846320"/>
          </a:xfrm>
          <a:prstGeom prst="roundRect">
            <a:avLst/>
          </a:prstGeom>
          <a:solidFill>
            <a:srgbClr val="FFFBEB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63440" y="1280160"/>
            <a:ext cx="411480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1389888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📦 Inputs From Client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201168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4151"/>
                </a:solidFill>
              </a:defRPr>
            </a:pPr>
            <a:r>
              <a:t>📱 Latest production build (APK/IPA)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260604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4151"/>
                </a:solidFill>
              </a:defRPr>
            </a:pPr>
            <a:r>
              <a:t>📊 Access to Analytics, CMS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320040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4151"/>
                </a:solidFill>
              </a:defRPr>
            </a:pPr>
            <a:r>
              <a:t>📑 API documentation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379476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4151"/>
                </a:solidFill>
              </a:defRPr>
            </a:pPr>
            <a:r>
              <a:t>🚀 Release pipeline documentation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38912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74151"/>
                </a:solidFill>
              </a:defRPr>
            </a:pPr>
            <a:r>
              <a:t>🔌 Third-party SDK list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39"/>
            <a:ext cx="9144000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182880"/>
            <a:ext cx="731520" cy="7315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914400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228600"/>
            <a:ext cx="457200" cy="457200"/>
          </a:xfrm>
          <a:prstGeom prst="ellipse">
            <a:avLst/>
          </a:prstGeom>
          <a:solidFill>
            <a:srgbClr val="FBBF24"/>
          </a:solidFill>
          <a:ln w="2540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860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North Star 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C2626"/>
                </a:solidFill>
              </a:defRPr>
            </a:pPr>
            <a:r>
              <a:t>🎯 Industry Benchmarks &amp; Target Goals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554480"/>
            <a:ext cx="2560320" cy="196596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69163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91B1B"/>
                </a:solidFill>
              </a:defRPr>
            </a:pPr>
            <a:r>
              <a:t>Screen Load 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1097280" cy="548640"/>
          </a:xfrm>
          <a:prstGeom prst="roundRect">
            <a:avLst/>
          </a:prstGeom>
          <a:solidFill>
            <a:srgbClr val="DCFCE7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1945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66534"/>
                </a:solidFill>
              </a:defRPr>
            </a:pPr>
            <a:r>
              <a:t>2 sec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24028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74151"/>
                </a:solidFill>
              </a:defRPr>
            </a:pPr>
            <a:r>
              <a:t>Target (Target)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6974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F4444"/>
                </a:solidFill>
              </a:defRPr>
            </a:pPr>
            <a:r>
              <a:t>vs 6 sec Current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0175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374151"/>
                </a:solidFill>
              </a:defRPr>
            </a:pPr>
            <a:r>
              <a:t>✓ 60% improvement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1554480"/>
            <a:ext cx="2560320" cy="1965960"/>
          </a:xfrm>
          <a:prstGeom prst="roundRect">
            <a:avLst/>
          </a:prstGeom>
          <a:solidFill>
            <a:srgbClr val="FEFCE8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16459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169163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91B1B"/>
                </a:solidFill>
              </a:defRPr>
            </a:pPr>
            <a:r>
              <a:t>Tab-Switch Latency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0" y="2103120"/>
            <a:ext cx="1097280" cy="548640"/>
          </a:xfrm>
          <a:prstGeom prst="roundRect">
            <a:avLst/>
          </a:prstGeom>
          <a:solidFill>
            <a:srgbClr val="DCFCE7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0" y="21945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66534"/>
                </a:solidFill>
              </a:defRPr>
            </a:pPr>
            <a:r>
              <a:t>150-250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224028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74151"/>
                </a:solidFill>
              </a:defRPr>
            </a:pPr>
            <a:r>
              <a:t>ms (Target)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26974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F4444"/>
                </a:solidFill>
              </a:defRPr>
            </a:pPr>
            <a:r>
              <a:t>vs 500+ 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30175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374151"/>
                </a:solidFill>
              </a:defRPr>
            </a:pPr>
            <a:r>
              <a:t>✓ Visual feedback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1554480"/>
            <a:ext cx="2560320" cy="196596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79" y="16459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169163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91B1B"/>
                </a:solidFill>
              </a:defRPr>
            </a:pPr>
            <a:r>
              <a:t>App Size Reduction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79" y="2103120"/>
            <a:ext cx="1097280" cy="548640"/>
          </a:xfrm>
          <a:prstGeom prst="roundRect">
            <a:avLst/>
          </a:prstGeom>
          <a:solidFill>
            <a:srgbClr val="DCFCE7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79" y="219456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66534"/>
                </a:solidFill>
              </a:defRPr>
            </a:pPr>
            <a:r>
              <a:t>30-40%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79" y="224028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74151"/>
                </a:solidFill>
              </a:defRPr>
            </a:pPr>
            <a:r>
              <a:t>Target (Target)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79" y="26974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F4444"/>
                </a:solidFill>
              </a:defRPr>
            </a:pPr>
            <a:r>
              <a:t>vs Growing Current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79" y="30175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374151"/>
                </a:solidFill>
              </a:defRPr>
            </a:pPr>
            <a:r>
              <a:t>✓ User retention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3657600"/>
            <a:ext cx="2560320" cy="1965960"/>
          </a:xfrm>
          <a:prstGeom prst="roundRect">
            <a:avLst/>
          </a:prstGeom>
          <a:solidFill>
            <a:srgbClr val="FEFCE8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374903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3794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91B1B"/>
                </a:solidFill>
              </a:defRPr>
            </a:pPr>
            <a:r>
              <a:t>API Latency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206240"/>
            <a:ext cx="1097280" cy="548640"/>
          </a:xfrm>
          <a:prstGeom prst="roundRect">
            <a:avLst/>
          </a:prstGeom>
          <a:solidFill>
            <a:srgbClr val="DCFCE7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29768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66534"/>
                </a:solidFill>
              </a:defRPr>
            </a:pPr>
            <a:r>
              <a:t>&lt;150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00200" y="43434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74151"/>
                </a:solidFill>
              </a:defRPr>
            </a:pPr>
            <a:r>
              <a:t>ms critical (Target)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8006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F4444"/>
                </a:solidFill>
              </a:defRPr>
            </a:pPr>
            <a:r>
              <a:t>vs 300+ 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1206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374151"/>
                </a:solidFill>
              </a:defRPr>
            </a:pPr>
            <a:r>
              <a:t>✓ Core flows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00400" y="3657600"/>
            <a:ext cx="2560320" cy="196596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91840" y="374903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49039" y="3794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91B1B"/>
                </a:solidFill>
              </a:defRPr>
            </a:pPr>
            <a:r>
              <a:t>Frame Stability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91840" y="4206240"/>
            <a:ext cx="1097280" cy="548640"/>
          </a:xfrm>
          <a:prstGeom prst="roundRect">
            <a:avLst/>
          </a:prstGeom>
          <a:solidFill>
            <a:srgbClr val="DCFCE7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91840" y="429768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66534"/>
                </a:solidFill>
              </a:defRPr>
            </a:pPr>
            <a:r>
              <a:t>&lt;16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34840" y="43434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74151"/>
                </a:solidFill>
              </a:defRPr>
            </a:pPr>
            <a:r>
              <a:t>ms/frame (Target)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91840" y="48006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F4444"/>
                </a:solidFill>
              </a:defRPr>
            </a:pPr>
            <a:r>
              <a:t>vs Janky Current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91840" y="51206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374151"/>
                </a:solidFill>
              </a:defRPr>
            </a:pPr>
            <a:r>
              <a:t>✓ Smooth UX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035040" y="3657600"/>
            <a:ext cx="2560320" cy="1965960"/>
          </a:xfrm>
          <a:prstGeom prst="roundRect">
            <a:avLst/>
          </a:prstGeom>
          <a:solidFill>
            <a:srgbClr val="FEFCE8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26479" y="374903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📅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79" y="3794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91B1B"/>
                </a:solidFill>
              </a:defRPr>
            </a:pPr>
            <a:r>
              <a:t>Release Cadence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26479" y="4206240"/>
            <a:ext cx="1097280" cy="548640"/>
          </a:xfrm>
          <a:prstGeom prst="roundRect">
            <a:avLst/>
          </a:prstGeom>
          <a:solidFill>
            <a:srgbClr val="DCFCE7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26479" y="429768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66534"/>
                </a:solidFill>
              </a:defRPr>
            </a:pPr>
            <a:r>
              <a:t>Monthly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69479" y="43434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74151"/>
                </a:solidFill>
              </a:defRPr>
            </a:pPr>
            <a:r>
              <a:t>Predictable (Target)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26479" y="48006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F4444"/>
                </a:solidFill>
              </a:defRPr>
            </a:pPr>
            <a:r>
              <a:t>vs Ad-hoc Current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26479" y="51206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374151"/>
                </a:solidFill>
              </a:defRPr>
            </a:pPr>
            <a:r>
              <a:t>✓ Consistent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576072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374151"/>
                </a:solidFill>
              </a:defRPr>
            </a:pPr>
            <a:r>
              <a:t>📌 Note: These are reference benchmarks only. Actual commitments determined post-RCA.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39"/>
            <a:ext cx="9144000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182880"/>
            <a:ext cx="731520" cy="7315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914400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228600"/>
            <a:ext cx="457200" cy="457200"/>
          </a:xfrm>
          <a:prstGeom prst="ellipse">
            <a:avLst/>
          </a:prstGeom>
          <a:solidFill>
            <a:srgbClr val="FBBF24"/>
          </a:solidFill>
          <a:ln w="2540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860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Assumptions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417320"/>
            <a:ext cx="457200" cy="4572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81328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3716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991B1B"/>
                </a:solidFill>
              </a:defRPr>
            </a:pPr>
            <a:r>
              <a:t>Client Access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1325880"/>
            <a:ext cx="4846320" cy="640080"/>
          </a:xfrm>
          <a:prstGeom prst="roundRect">
            <a:avLst/>
          </a:prstGeom>
          <a:solidFill>
            <a:srgbClr val="FEF3C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77639" y="14173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74151"/>
                </a:solidFill>
              </a:defRPr>
            </a:pPr>
            <a:r>
              <a:t>All access (code, builds, dashboards) will be provided by the client in a timely manner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2194560"/>
            <a:ext cx="457200" cy="4572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258568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1488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991B1B"/>
                </a:solidFill>
              </a:defRPr>
            </a:pPr>
            <a:r>
              <a:t>SDK Limitations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0" y="2103120"/>
            <a:ext cx="4846320" cy="640080"/>
          </a:xfrm>
          <a:prstGeom prst="roundRect">
            <a:avLst/>
          </a:prstGeom>
          <a:solidFill>
            <a:srgbClr val="FEF3C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77639" y="21945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74151"/>
                </a:solidFill>
              </a:defRPr>
            </a:pPr>
            <a:r>
              <a:t>Third-party SDK behavior and CMS limitations may restrict optimization scope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2971800"/>
            <a:ext cx="457200" cy="4572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035808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29260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991B1B"/>
                </a:solidFill>
              </a:defRPr>
            </a:pPr>
            <a:r>
              <a:t>Backend Scope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0" y="2880360"/>
            <a:ext cx="4846320" cy="640080"/>
          </a:xfrm>
          <a:prstGeom prst="roundRect">
            <a:avLst/>
          </a:prstGeom>
          <a:solidFill>
            <a:srgbClr val="FEF3C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7639" y="29718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74151"/>
                </a:solidFill>
              </a:defRPr>
            </a:pPr>
            <a:r>
              <a:t>No changes to backend or CMS unless explicitly included in the engagement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" y="3749039"/>
            <a:ext cx="457200" cy="4572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813048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37033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991B1B"/>
                </a:solidFill>
              </a:defRPr>
            </a:pPr>
            <a:r>
              <a:t>RCA-Driven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0" y="3657600"/>
            <a:ext cx="4846320" cy="640080"/>
          </a:xfrm>
          <a:prstGeom prst="roundRect">
            <a:avLst/>
          </a:prstGeom>
          <a:solidFill>
            <a:srgbClr val="FEF3C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77639" y="3749039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74151"/>
                </a:solidFill>
              </a:defRPr>
            </a:pPr>
            <a:r>
              <a:t>RCA outcomes will determine feasibility - not all items may be fixable</a:t>
            </a:r>
          </a:p>
        </p:txBody>
      </p:sp>
      <p:sp>
        <p:nvSpPr>
          <p:cNvPr id="29" name="Oval 28"/>
          <p:cNvSpPr/>
          <p:nvPr/>
        </p:nvSpPr>
        <p:spPr>
          <a:xfrm>
            <a:off x="457200" y="4526279"/>
            <a:ext cx="457200" cy="4572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590288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48055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991B1B"/>
                </a:solidFill>
              </a:defRPr>
            </a:pPr>
            <a:r>
              <a:t>Data-Driven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40480" y="4434840"/>
            <a:ext cx="4846320" cy="640080"/>
          </a:xfrm>
          <a:prstGeom prst="roundRect">
            <a:avLst/>
          </a:prstGeom>
          <a:solidFill>
            <a:srgbClr val="FEF3C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77639" y="4526279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74151"/>
                </a:solidFill>
              </a:defRPr>
            </a:pPr>
            <a:r>
              <a:t>Recommendations will be measurable and derived from profiling &amp; telemetry data</a:t>
            </a:r>
          </a:p>
        </p:txBody>
      </p:sp>
      <p:sp>
        <p:nvSpPr>
          <p:cNvPr id="34" name="Oval 33"/>
          <p:cNvSpPr/>
          <p:nvPr/>
        </p:nvSpPr>
        <p:spPr>
          <a:xfrm>
            <a:off x="457200" y="5303519"/>
            <a:ext cx="457200" cy="4572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367527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525779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991B1B"/>
                </a:solidFill>
              </a:defRPr>
            </a:pPr>
            <a:r>
              <a:t>UX Stability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840480" y="5212079"/>
            <a:ext cx="4846320" cy="640080"/>
          </a:xfrm>
          <a:prstGeom prst="roundRect">
            <a:avLst/>
          </a:prstGeom>
          <a:solidFill>
            <a:srgbClr val="FEF3C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77639" y="5303519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74151"/>
                </a:solidFill>
              </a:defRPr>
            </a:pPr>
            <a:r>
              <a:t>Business-driven UI/UX changes out of scope unless mutually agreed</a:t>
            </a:r>
          </a:p>
        </p:txBody>
      </p:sp>
      <p:sp>
        <p:nvSpPr>
          <p:cNvPr id="39" name="Oval 38"/>
          <p:cNvSpPr/>
          <p:nvPr/>
        </p:nvSpPr>
        <p:spPr>
          <a:xfrm>
            <a:off x="457200" y="6080759"/>
            <a:ext cx="457200" cy="4572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144767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" y="603503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991B1B"/>
                </a:solidFill>
              </a:defRPr>
            </a:pPr>
            <a:r>
              <a:t>Advisory Role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840480" y="5989319"/>
            <a:ext cx="4846320" cy="640080"/>
          </a:xfrm>
          <a:prstGeom prst="roundRect">
            <a:avLst/>
          </a:prstGeom>
          <a:solidFill>
            <a:srgbClr val="FEF3C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77639" y="6080759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74151"/>
                </a:solidFill>
              </a:defRPr>
            </a:pPr>
            <a:r>
              <a:t>Release Management changes are advisory; client DevOps owns implementation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39"/>
            <a:ext cx="9144000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182880"/>
            <a:ext cx="731520" cy="7315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914400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228600"/>
            <a:ext cx="457200" cy="457200"/>
          </a:xfrm>
          <a:prstGeom prst="ellipse">
            <a:avLst/>
          </a:prstGeom>
          <a:solidFill>
            <a:srgbClr val="FBBF24"/>
          </a:solidFill>
          <a:ln w="2540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860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Architecture &amp; Design Focus</a:t>
            </a:r>
          </a:p>
        </p:txBody>
      </p:sp>
      <p:sp>
        <p:nvSpPr>
          <p:cNvPr id="9" name="Oval 8"/>
          <p:cNvSpPr/>
          <p:nvPr/>
        </p:nvSpPr>
        <p:spPr>
          <a:xfrm>
            <a:off x="3657600" y="2743200"/>
            <a:ext cx="1828800" cy="1828800"/>
          </a:xfrm>
          <a:prstGeom prst="ellipse">
            <a:avLst/>
          </a:prstGeom>
          <a:solidFill>
            <a:srgbClr val="DC2626"/>
          </a:solidFill>
          <a:ln w="508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338328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Architecture</a:t>
            </a:r>
            <a:br/>
            <a:r>
              <a:t>Assessment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1645920"/>
            <a:ext cx="1645920" cy="9144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1874519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991B1B"/>
                </a:solidFill>
              </a:defRPr>
            </a:pPr>
            <a:r>
              <a:t>Modular</a:t>
            </a:r>
            <a:br/>
            <a:r>
              <a:t>Layers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1645920"/>
            <a:ext cx="1645920" cy="914400"/>
          </a:xfrm>
          <a:prstGeom prst="roundRect">
            <a:avLst/>
          </a:prstGeom>
          <a:solidFill>
            <a:srgbClr val="FEFCE8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1874519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991B1B"/>
                </a:solidFill>
              </a:defRPr>
            </a:pPr>
            <a:r>
              <a:t>API</a:t>
            </a:r>
            <a:br/>
            <a:r>
              <a:t>Sequencing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57600"/>
            <a:ext cx="1645920" cy="91440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88620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991B1B"/>
                </a:solidFill>
              </a:defRPr>
            </a:pPr>
            <a:r>
              <a:t>Async</a:t>
            </a:r>
            <a:br/>
            <a:r>
              <a:t>Rendering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3657600"/>
            <a:ext cx="1645920" cy="914400"/>
          </a:xfrm>
          <a:prstGeom prst="roundRect">
            <a:avLst/>
          </a:prstGeom>
          <a:solidFill>
            <a:srgbClr val="FFFBEB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79" y="388620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991B1B"/>
                </a:solidFill>
              </a:defRPr>
            </a:pPr>
            <a:r>
              <a:t>SDK</a:t>
            </a:r>
            <a:br/>
            <a:r>
              <a:t>Footprint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5303520"/>
            <a:ext cx="1645920" cy="914400"/>
          </a:xfrm>
          <a:prstGeom prst="roundRect">
            <a:avLst/>
          </a:prstGeom>
          <a:solidFill>
            <a:srgbClr val="ECFE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55321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991B1B"/>
                </a:solidFill>
              </a:defRPr>
            </a:pPr>
            <a:r>
              <a:t>Lazy</a:t>
            </a:r>
            <a:br/>
            <a:r>
              <a:t>Loading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0" y="5303520"/>
            <a:ext cx="1645920" cy="914400"/>
          </a:xfrm>
          <a:prstGeom prst="roundRect">
            <a:avLst/>
          </a:prstGeom>
          <a:solidFill>
            <a:srgbClr val="F5F3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55321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991B1B"/>
                </a:solidFill>
              </a:defRPr>
            </a:pPr>
            <a:r>
              <a:t>Asset</a:t>
            </a:r>
            <a:br/>
            <a:r>
              <a:t>Cache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86000" y="5852160"/>
            <a:ext cx="4572000" cy="548640"/>
          </a:xfrm>
          <a:prstGeom prst="roundRect">
            <a:avLst/>
          </a:prstGeom>
          <a:solidFill>
            <a:srgbClr val="FEF3C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77440" y="598932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74151"/>
                </a:solidFill>
              </a:defRPr>
            </a:pPr>
            <a:r>
              <a:t>🎯 Plus: Separation of concerns, Release governance, Branching strategy 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39"/>
            <a:ext cx="9144000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182880"/>
            <a:ext cx="731520" cy="7315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914400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rocess 6"/>
          <p:cNvSpPr/>
          <p:nvPr/>
        </p:nvSpPr>
        <p:spPr>
          <a:xfrm>
            <a:off x="457200" y="228600"/>
            <a:ext cx="457200" cy="457200"/>
          </a:xfrm>
          <a:prstGeom prst="flowChartProcess">
            <a:avLst/>
          </a:prstGeom>
          <a:solidFill>
            <a:srgbClr val="FBBF24"/>
          </a:solidFill>
          <a:ln w="2540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860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Proposed Diagnostic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1828800"/>
            <a:ext cx="5486400" cy="68580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1901952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991B1B"/>
                </a:solidFill>
              </a:defRPr>
            </a:pPr>
            <a:r>
              <a:t>📱 App 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9659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74151"/>
                </a:solidFill>
              </a:defRPr>
            </a:pPr>
            <a:r>
              <a:t>Flutter architecture deep-dive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4389120" y="2542032"/>
            <a:ext cx="365760" cy="320040"/>
          </a:xfrm>
          <a:prstGeom prst="down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828800" y="2651760"/>
            <a:ext cx="5486400" cy="685800"/>
          </a:xfrm>
          <a:prstGeom prst="roundRect">
            <a:avLst/>
          </a:prstGeom>
          <a:solidFill>
            <a:srgbClr val="FFFBEB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2724912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991B1B"/>
                </a:solidFill>
              </a:defRPr>
            </a:pPr>
            <a:r>
              <a:t>🌐 API Gateway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78892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74151"/>
                </a:solidFill>
              </a:defRPr>
            </a:pPr>
            <a:r>
              <a:t>Interaction patterns &amp; latency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4389120" y="3364991"/>
            <a:ext cx="365760" cy="320040"/>
          </a:xfrm>
          <a:prstGeom prst="down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828800" y="3474720"/>
            <a:ext cx="5486400" cy="685800"/>
          </a:xfrm>
          <a:prstGeom prst="roundRect">
            <a:avLst/>
          </a:prstGeom>
          <a:solidFill>
            <a:srgbClr val="ECFE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0" y="3547872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991B1B"/>
                </a:solidFill>
              </a:defRPr>
            </a:pPr>
            <a:r>
              <a:t>📦 CMS Modules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61187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74151"/>
                </a:solidFill>
              </a:defRPr>
            </a:pPr>
            <a:r>
              <a:t>Content-driven module analysis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4389120" y="4187952"/>
            <a:ext cx="365760" cy="320040"/>
          </a:xfrm>
          <a:prstGeom prst="down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828800" y="4297680"/>
            <a:ext cx="5486400" cy="685800"/>
          </a:xfrm>
          <a:prstGeom prst="roundRect">
            <a:avLst/>
          </a:prstGeom>
          <a:solidFill>
            <a:srgbClr val="F5F3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11680" y="4370832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991B1B"/>
                </a:solidFill>
              </a:defRPr>
            </a:pPr>
            <a:r>
              <a:t>🔌 SDK Integrations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4348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74151"/>
                </a:solidFill>
              </a:defRPr>
            </a:pPr>
            <a:r>
              <a:t>Fly, MarTech, Payments, Firebase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4389120" y="5010912"/>
            <a:ext cx="365760" cy="320040"/>
          </a:xfrm>
          <a:prstGeom prst="down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828800" y="5120640"/>
            <a:ext cx="5486400" cy="685800"/>
          </a:xfrm>
          <a:prstGeom prst="roundRect">
            <a:avLst/>
          </a:prstGeom>
          <a:solidFill>
            <a:srgbClr val="FFF1F2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11680" y="5193792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991B1B"/>
                </a:solidFill>
              </a:defRPr>
            </a:pPr>
            <a:r>
              <a:t>📊 Telemetry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52578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74151"/>
                </a:solidFill>
              </a:defRPr>
            </a:pPr>
            <a:r>
              <a:t>Performance data flows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4389120" y="5833871"/>
            <a:ext cx="365760" cy="320040"/>
          </a:xfrm>
          <a:prstGeom prst="down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828800" y="5943600"/>
            <a:ext cx="5486400" cy="685800"/>
          </a:xfrm>
          <a:prstGeom prst="roundRect">
            <a:avLst/>
          </a:prstGeom>
          <a:solidFill>
            <a:srgbClr val="FFF7ED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11680" y="6016752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991B1B"/>
                </a:solidFill>
              </a:defRPr>
            </a:pPr>
            <a:r>
              <a:t>🚀 CI/CD Pipeline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60807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74151"/>
                </a:solidFill>
              </a:defRPr>
            </a:pPr>
            <a:r>
              <a:t>Release workflows &amp; automation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39"/>
            <a:ext cx="9144000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182880"/>
            <a:ext cx="731520" cy="7315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914400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Diagnostic Approach: Week 0-4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7680960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1737360"/>
            <a:ext cx="274320" cy="274320"/>
          </a:xfrm>
          <a:prstGeom prst="ellipse">
            <a:avLst/>
          </a:prstGeom>
          <a:solidFill>
            <a:srgbClr val="DC262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286000"/>
            <a:ext cx="1188720" cy="4572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5915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8803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991B1B"/>
                </a:solidFill>
              </a:defRPr>
            </a:pPr>
            <a:r>
              <a:t>Setup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474720"/>
            <a:ext cx="1371600" cy="22860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566160"/>
            <a:ext cx="1280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800">
                <a:solidFill>
                  <a:srgbClr val="374151"/>
                </a:solidFill>
              </a:defRPr>
            </a:pPr>
            <a:r>
              <a:t>• Access provision</a:t>
            </a:r>
          </a:p>
          <a:p>
            <a:pPr>
              <a:spcAft>
                <a:spcPts val="200"/>
              </a:spcAft>
              <a:defRPr sz="800">
                <a:solidFill>
                  <a:srgbClr val="374151"/>
                </a:solidFill>
              </a:defRPr>
            </a:pPr>
            <a:r>
              <a:t>• Environment</a:t>
            </a:r>
          </a:p>
          <a:p>
            <a:pPr>
              <a:spcAft>
                <a:spcPts val="200"/>
              </a:spcAft>
              <a:defRPr sz="800">
                <a:solidFill>
                  <a:srgbClr val="374151"/>
                </a:solidFill>
              </a:defRPr>
            </a:pPr>
            <a:r>
              <a:t>• Build validation</a:t>
            </a:r>
          </a:p>
        </p:txBody>
      </p:sp>
      <p:sp>
        <p:nvSpPr>
          <p:cNvPr id="15" name="Oval 14"/>
          <p:cNvSpPr/>
          <p:nvPr/>
        </p:nvSpPr>
        <p:spPr>
          <a:xfrm>
            <a:off x="2926080" y="1737360"/>
            <a:ext cx="274320" cy="274320"/>
          </a:xfrm>
          <a:prstGeom prst="ellipse">
            <a:avLst/>
          </a:prstGeom>
          <a:solidFill>
            <a:srgbClr val="DC262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468880" y="2286000"/>
            <a:ext cx="1188720" cy="4572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80" y="235915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28803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991B1B"/>
                </a:solidFill>
              </a:defRPr>
            </a:pPr>
            <a:r>
              <a:t>Profiling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77440" y="3474720"/>
            <a:ext cx="1371600" cy="22860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23160" y="3566160"/>
            <a:ext cx="1280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800">
                <a:solidFill>
                  <a:srgbClr val="374151"/>
                </a:solidFill>
              </a:defRPr>
            </a:pPr>
            <a:r>
              <a:t>• Load benchmarks</a:t>
            </a:r>
          </a:p>
          <a:p>
            <a:pPr>
              <a:spcAft>
                <a:spcPts val="200"/>
              </a:spcAft>
              <a:defRPr sz="800">
                <a:solidFill>
                  <a:srgbClr val="374151"/>
                </a:solidFill>
              </a:defRPr>
            </a:pPr>
            <a:r>
              <a:t>• API mapping</a:t>
            </a:r>
          </a:p>
          <a:p>
            <a:pPr>
              <a:spcAft>
                <a:spcPts val="200"/>
              </a:spcAft>
              <a:defRPr sz="800">
                <a:solidFill>
                  <a:srgbClr val="374151"/>
                </a:solidFill>
              </a:defRPr>
            </a:pPr>
            <a:r>
              <a:t>• Size breakdown</a:t>
            </a:r>
          </a:p>
          <a:p>
            <a:pPr>
              <a:spcAft>
                <a:spcPts val="200"/>
              </a:spcAft>
              <a:defRPr sz="800">
                <a:solidFill>
                  <a:srgbClr val="374151"/>
                </a:solidFill>
              </a:defRPr>
            </a:pPr>
            <a:r>
              <a:t>• Cache profiling</a:t>
            </a:r>
          </a:p>
        </p:txBody>
      </p:sp>
      <p:sp>
        <p:nvSpPr>
          <p:cNvPr id="21" name="Oval 20"/>
          <p:cNvSpPr/>
          <p:nvPr/>
        </p:nvSpPr>
        <p:spPr>
          <a:xfrm>
            <a:off x="4480560" y="1737360"/>
            <a:ext cx="274320" cy="274320"/>
          </a:xfrm>
          <a:prstGeom prst="ellipse">
            <a:avLst/>
          </a:prstGeom>
          <a:solidFill>
            <a:srgbClr val="DC262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023360" y="2286000"/>
            <a:ext cx="1188720" cy="4572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23360" y="235915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28803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991B1B"/>
                </a:solidFill>
              </a:defRPr>
            </a:pPr>
            <a:r>
              <a:t>RCA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31920" y="3474720"/>
            <a:ext cx="1371600" cy="22860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77640" y="3566160"/>
            <a:ext cx="1280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800">
                <a:solidFill>
                  <a:srgbClr val="374151"/>
                </a:solidFill>
              </a:defRPr>
            </a:pPr>
            <a:r>
              <a:t>• Root-cause ID</a:t>
            </a:r>
          </a:p>
          <a:p>
            <a:pPr>
              <a:spcAft>
                <a:spcPts val="200"/>
              </a:spcAft>
              <a:defRPr sz="800">
                <a:solidFill>
                  <a:srgbClr val="374151"/>
                </a:solidFill>
              </a:defRPr>
            </a:pPr>
            <a:r>
              <a:t>• Fixable analysis</a:t>
            </a:r>
          </a:p>
          <a:p>
            <a:pPr>
              <a:spcAft>
                <a:spcPts val="200"/>
              </a:spcAft>
              <a:defRPr sz="800">
                <a:solidFill>
                  <a:srgbClr val="374151"/>
                </a:solidFill>
              </a:defRPr>
            </a:pPr>
            <a:r>
              <a:t>• SDK constraints</a:t>
            </a:r>
          </a:p>
          <a:p>
            <a:pPr>
              <a:spcAft>
                <a:spcPts val="200"/>
              </a:spcAft>
              <a:defRPr sz="800">
                <a:solidFill>
                  <a:srgbClr val="374151"/>
                </a:solidFill>
              </a:defRPr>
            </a:pPr>
            <a:r>
              <a:t>• Pipeline review</a:t>
            </a:r>
          </a:p>
        </p:txBody>
      </p:sp>
      <p:sp>
        <p:nvSpPr>
          <p:cNvPr id="27" name="Oval 26"/>
          <p:cNvSpPr/>
          <p:nvPr/>
        </p:nvSpPr>
        <p:spPr>
          <a:xfrm>
            <a:off x="6035040" y="1737360"/>
            <a:ext cx="274320" cy="274320"/>
          </a:xfrm>
          <a:prstGeom prst="ellipse">
            <a:avLst/>
          </a:prstGeom>
          <a:solidFill>
            <a:srgbClr val="DC262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577840" y="2286000"/>
            <a:ext cx="1188720" cy="4572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77840" y="235915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28803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991B1B"/>
                </a:solidFill>
              </a:defRPr>
            </a:pPr>
            <a:r>
              <a:t>Validation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0" y="3474720"/>
            <a:ext cx="1371600" cy="22860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32120" y="3566160"/>
            <a:ext cx="1280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800">
                <a:solidFill>
                  <a:srgbClr val="374151"/>
                </a:solidFill>
              </a:defRPr>
            </a:pPr>
            <a:r>
              <a:t>• Joint walkthrough</a:t>
            </a:r>
          </a:p>
          <a:p>
            <a:pPr>
              <a:spcAft>
                <a:spcPts val="200"/>
              </a:spcAft>
              <a:defRPr sz="800">
                <a:solidFill>
                  <a:srgbClr val="374151"/>
                </a:solidFill>
              </a:defRPr>
            </a:pPr>
            <a:r>
              <a:t>• Team validation</a:t>
            </a:r>
          </a:p>
          <a:p>
            <a:pPr>
              <a:spcAft>
                <a:spcPts val="200"/>
              </a:spcAft>
              <a:defRPr sz="800">
                <a:solidFill>
                  <a:srgbClr val="374151"/>
                </a:solidFill>
              </a:defRPr>
            </a:pPr>
            <a:r>
              <a:t>• Feasibility check</a:t>
            </a:r>
          </a:p>
          <a:p>
            <a:pPr>
              <a:spcAft>
                <a:spcPts val="200"/>
              </a:spcAft>
              <a:defRPr sz="800">
                <a:solidFill>
                  <a:srgbClr val="374151"/>
                </a:solidFill>
              </a:defRPr>
            </a:pPr>
            <a:r>
              <a:t>• Release model</a:t>
            </a:r>
          </a:p>
        </p:txBody>
      </p:sp>
      <p:sp>
        <p:nvSpPr>
          <p:cNvPr id="33" name="Oval 32"/>
          <p:cNvSpPr/>
          <p:nvPr/>
        </p:nvSpPr>
        <p:spPr>
          <a:xfrm>
            <a:off x="7589520" y="1737360"/>
            <a:ext cx="274320" cy="274320"/>
          </a:xfrm>
          <a:prstGeom prst="ellipse">
            <a:avLst/>
          </a:prstGeom>
          <a:solidFill>
            <a:srgbClr val="DC262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132320" y="2286000"/>
            <a:ext cx="1188720" cy="4572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0" y="235915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28803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991B1B"/>
                </a:solidFill>
              </a:defRPr>
            </a:pPr>
            <a:r>
              <a:t>Report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40880" y="3474720"/>
            <a:ext cx="1371600" cy="22860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86600" y="3566160"/>
            <a:ext cx="1280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800">
                <a:solidFill>
                  <a:srgbClr val="374151"/>
                </a:solidFill>
              </a:defRPr>
            </a:pPr>
            <a:r>
              <a:t>• Target alignment</a:t>
            </a:r>
          </a:p>
          <a:p>
            <a:pPr>
              <a:spcAft>
                <a:spcPts val="200"/>
              </a:spcAft>
              <a:defRPr sz="800">
                <a:solidFill>
                  <a:srgbClr val="374151"/>
                </a:solidFill>
              </a:defRPr>
            </a:pPr>
            <a:r>
              <a:t>• Uplift range</a:t>
            </a:r>
          </a:p>
          <a:p>
            <a:pPr>
              <a:spcAft>
                <a:spcPts val="200"/>
              </a:spcAft>
              <a:defRPr sz="800">
                <a:solidFill>
                  <a:srgbClr val="374151"/>
                </a:solidFill>
              </a:defRPr>
            </a:pPr>
            <a:r>
              <a:t>• Fixes list</a:t>
            </a:r>
          </a:p>
          <a:p>
            <a:pPr>
              <a:spcAft>
                <a:spcPts val="200"/>
              </a:spcAft>
              <a:defRPr sz="800">
                <a:solidFill>
                  <a:srgbClr val="374151"/>
                </a:solidFill>
              </a:defRPr>
            </a:pPr>
            <a:r>
              <a:t>• Execution plan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39"/>
            <a:ext cx="9144000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182880"/>
            <a:ext cx="731520" cy="7315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914400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228600"/>
            <a:ext cx="457200" cy="457200"/>
          </a:xfrm>
          <a:prstGeom prst="ellipse">
            <a:avLst/>
          </a:prstGeom>
          <a:solidFill>
            <a:srgbClr val="FBBF24"/>
          </a:solidFill>
          <a:ln w="2540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860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Expert Team Structure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2377440" cy="4114800"/>
          </a:xfrm>
          <a:prstGeom prst="roundRect">
            <a:avLst/>
          </a:prstGeom>
          <a:solidFill>
            <a:srgbClr val="FEF3C7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88720" y="1828800"/>
            <a:ext cx="914400" cy="91440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01168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👨‍💻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260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991B1B"/>
                </a:solidFill>
              </a:defRPr>
            </a:pPr>
            <a:r>
              <a:t>Mobile Performance Lead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832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DC2626"/>
                </a:solidFill>
              </a:defRPr>
            </a:pPr>
            <a:r>
              <a:t>Flutter Expert</a:t>
            </a:r>
          </a:p>
        </p:txBody>
      </p:sp>
      <p:sp>
        <p:nvSpPr>
          <p:cNvPr id="14" name="Oval 13"/>
          <p:cNvSpPr/>
          <p:nvPr/>
        </p:nvSpPr>
        <p:spPr>
          <a:xfrm>
            <a:off x="2194560" y="1463040"/>
            <a:ext cx="457200" cy="4572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153619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40480"/>
            <a:ext cx="20116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977639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74151"/>
                </a:solidFill>
              </a:defRPr>
            </a:pPr>
            <a:r>
              <a:t>Profiling, rendering, optimization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1645920"/>
            <a:ext cx="2377440" cy="4114800"/>
          </a:xfrm>
          <a:prstGeom prst="roundRect">
            <a:avLst/>
          </a:prstGeom>
          <a:solidFill>
            <a:srgbClr val="FEF3C7"/>
          </a:solidFill>
          <a:ln w="381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14800" y="1828800"/>
            <a:ext cx="914400" cy="914400"/>
          </a:xfrm>
          <a:prstGeom prst="ellipse">
            <a:avLst/>
          </a:prstGeom>
          <a:solidFill>
            <a:srgbClr val="F97316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0" y="201168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👩‍💻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29260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991B1B"/>
                </a:solidFill>
              </a:defRPr>
            </a:pPr>
            <a:r>
              <a:t>Mobile Engineers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3832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F97316"/>
                </a:solidFill>
              </a:defRPr>
            </a:pPr>
            <a:r>
              <a:t>Code Analysts</a:t>
            </a:r>
          </a:p>
        </p:txBody>
      </p:sp>
      <p:sp>
        <p:nvSpPr>
          <p:cNvPr id="23" name="Oval 22"/>
          <p:cNvSpPr/>
          <p:nvPr/>
        </p:nvSpPr>
        <p:spPr>
          <a:xfrm>
            <a:off x="5120640" y="1463040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153619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66160" y="3840480"/>
            <a:ext cx="20116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977639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74151"/>
                </a:solidFill>
              </a:defRPr>
            </a:pPr>
            <a:r>
              <a:t>Code analysis, architecture assessment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1645920"/>
            <a:ext cx="2377440" cy="4114800"/>
          </a:xfrm>
          <a:prstGeom prst="roundRect">
            <a:avLst/>
          </a:prstGeom>
          <a:solidFill>
            <a:srgbClr val="FEF3C7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040880" y="1828800"/>
            <a:ext cx="914400" cy="914400"/>
          </a:xfrm>
          <a:prstGeom prst="ellipse">
            <a:avLst/>
          </a:prstGeom>
          <a:solidFill>
            <a:srgbClr val="F59E0B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0" y="201168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9260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991B1B"/>
                </a:solidFill>
              </a:defRPr>
            </a:pPr>
            <a:r>
              <a:t>Solution Architect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3832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F59E0B"/>
                </a:solidFill>
              </a:defRPr>
            </a:pPr>
            <a:r>
              <a:t>Strategic Lead</a:t>
            </a:r>
          </a:p>
        </p:txBody>
      </p:sp>
      <p:sp>
        <p:nvSpPr>
          <p:cNvPr id="32" name="Oval 31"/>
          <p:cNvSpPr/>
          <p:nvPr/>
        </p:nvSpPr>
        <p:spPr>
          <a:xfrm>
            <a:off x="8046720" y="146304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0" y="153619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2240" y="3840480"/>
            <a:ext cx="20116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3977639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374151"/>
                </a:solidFill>
              </a:defRPr>
            </a:pPr>
            <a:r>
              <a:t>Engineering Mgmt, Program Mgmt, Architecture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0" y="5943600"/>
            <a:ext cx="3657600" cy="4572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0" y="60350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🚀 Total Team: 3 Members (Diagnostic Phase)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39"/>
            <a:ext cx="9144000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182880"/>
            <a:ext cx="731520" cy="7315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914400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8600"/>
            <a:ext cx="457200" cy="457200"/>
          </a:xfrm>
          <a:prstGeom prst="rect">
            <a:avLst/>
          </a:prstGeom>
          <a:solidFill>
            <a:srgbClr val="FBBF24"/>
          </a:solidFill>
          <a:ln w="2540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860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Project Timeline (Gantt View)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371600"/>
            <a:ext cx="960120" cy="457200"/>
          </a:xfrm>
          <a:prstGeom prst="round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444752"/>
            <a:ext cx="960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1371600"/>
            <a:ext cx="960120" cy="457200"/>
          </a:xfrm>
          <a:prstGeom prst="round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444752"/>
            <a:ext cx="960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1371600"/>
            <a:ext cx="960120" cy="457200"/>
          </a:xfrm>
          <a:prstGeom prst="round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1444752"/>
            <a:ext cx="960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79" y="1371600"/>
            <a:ext cx="960120" cy="457200"/>
          </a:xfrm>
          <a:prstGeom prst="round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79" y="1444752"/>
            <a:ext cx="960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1371600"/>
            <a:ext cx="960120" cy="457200"/>
          </a:xfrm>
          <a:prstGeom prst="round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1444752"/>
            <a:ext cx="960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21031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74151"/>
                </a:solidFill>
              </a:defRPr>
            </a:pPr>
            <a:r>
              <a:t>Setup &amp; Access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2148839"/>
            <a:ext cx="960120" cy="365760"/>
          </a:xfrm>
          <a:prstGeom prst="roundRect">
            <a:avLst/>
          </a:prstGeom>
          <a:solidFill>
            <a:srgbClr val="DC262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27432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74151"/>
                </a:solidFill>
              </a:defRPr>
            </a:pPr>
            <a:r>
              <a:t>Profiling &amp; Analysis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2788920"/>
            <a:ext cx="960120" cy="365760"/>
          </a:xfrm>
          <a:prstGeom prst="roundRect">
            <a:avLst/>
          </a:prstGeom>
          <a:solidFill>
            <a:srgbClr val="F9731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33832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74151"/>
                </a:solidFill>
              </a:defRPr>
            </a:pPr>
            <a:r>
              <a:t>RCA &amp; Observations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720" y="3429000"/>
            <a:ext cx="960120" cy="365760"/>
          </a:xfrm>
          <a:prstGeom prst="roundRect">
            <a:avLst/>
          </a:prstGeom>
          <a:solidFill>
            <a:srgbClr val="F59E0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40233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74151"/>
                </a:solidFill>
              </a:defRPr>
            </a:pPr>
            <a:r>
              <a:t>Discussions &amp; Validation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12279" y="4069080"/>
            <a:ext cx="960120" cy="365760"/>
          </a:xfrm>
          <a:prstGeom prst="roundRect">
            <a:avLst/>
          </a:prstGeom>
          <a:solidFill>
            <a:srgbClr val="22C55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46634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74151"/>
                </a:solidFill>
              </a:defRPr>
            </a:pPr>
            <a:r>
              <a:t>Final Report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4709160"/>
            <a:ext cx="960120" cy="365760"/>
          </a:xfrm>
          <a:prstGeom prst="roundRect">
            <a:avLst/>
          </a:prstGeom>
          <a:solidFill>
            <a:srgbClr val="3B82F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iamond 28"/>
          <p:cNvSpPr/>
          <p:nvPr/>
        </p:nvSpPr>
        <p:spPr>
          <a:xfrm>
            <a:off x="4069080" y="5486400"/>
            <a:ext cx="182880" cy="182880"/>
          </a:xfrm>
          <a:prstGeom prst="diamond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94759" y="57607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74151"/>
                </a:solidFill>
              </a:defRPr>
            </a:pPr>
            <a:r>
              <a:t>Kickoff</a:t>
            </a:r>
          </a:p>
        </p:txBody>
      </p:sp>
      <p:sp>
        <p:nvSpPr>
          <p:cNvPr id="31" name="Diamond 30"/>
          <p:cNvSpPr/>
          <p:nvPr/>
        </p:nvSpPr>
        <p:spPr>
          <a:xfrm>
            <a:off x="5120640" y="5486400"/>
            <a:ext cx="182880" cy="182880"/>
          </a:xfrm>
          <a:prstGeom prst="diamond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57607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74151"/>
                </a:solidFill>
              </a:defRPr>
            </a:pPr>
            <a:r>
              <a:t>Data Ready</a:t>
            </a:r>
          </a:p>
        </p:txBody>
      </p:sp>
      <p:sp>
        <p:nvSpPr>
          <p:cNvPr id="33" name="Diamond 32"/>
          <p:cNvSpPr/>
          <p:nvPr/>
        </p:nvSpPr>
        <p:spPr>
          <a:xfrm>
            <a:off x="6172200" y="5486400"/>
            <a:ext cx="182880" cy="182880"/>
          </a:xfrm>
          <a:prstGeom prst="diamond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97879" y="57607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74151"/>
                </a:solidFill>
              </a:defRPr>
            </a:pPr>
            <a:r>
              <a:t>Findings</a:t>
            </a:r>
          </a:p>
        </p:txBody>
      </p:sp>
      <p:sp>
        <p:nvSpPr>
          <p:cNvPr id="35" name="Diamond 34"/>
          <p:cNvSpPr/>
          <p:nvPr/>
        </p:nvSpPr>
        <p:spPr>
          <a:xfrm>
            <a:off x="7223760" y="5486400"/>
            <a:ext cx="182880" cy="182880"/>
          </a:xfrm>
          <a:prstGeom prst="diamond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0" y="57607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74151"/>
                </a:solidFill>
              </a:defRPr>
            </a:pPr>
            <a:r>
              <a:t>Validation</a:t>
            </a:r>
          </a:p>
        </p:txBody>
      </p:sp>
      <p:sp>
        <p:nvSpPr>
          <p:cNvPr id="37" name="Diamond 36"/>
          <p:cNvSpPr/>
          <p:nvPr/>
        </p:nvSpPr>
        <p:spPr>
          <a:xfrm>
            <a:off x="8275320" y="5486400"/>
            <a:ext cx="182880" cy="182880"/>
          </a:xfrm>
          <a:prstGeom prst="diamond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01000" y="57607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374151"/>
                </a:solidFill>
              </a:defRPr>
            </a:pPr>
            <a:r>
              <a:t>Delivery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39"/>
            <a:ext cx="9144000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182880"/>
            <a:ext cx="731520" cy="7315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914400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228600"/>
            <a:ext cx="457200" cy="457200"/>
          </a:xfrm>
          <a:prstGeom prst="ellipse">
            <a:avLst/>
          </a:prstGeom>
          <a:solidFill>
            <a:srgbClr val="FBBF24"/>
          </a:solidFill>
          <a:ln w="2540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860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Investment Structure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4023360" cy="4389120"/>
          </a:xfrm>
          <a:prstGeom prst="roundRect">
            <a:avLst/>
          </a:prstGeom>
          <a:solidFill>
            <a:srgbClr val="FEF2F2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4023360" cy="7315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4023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🔍 DIAGNOSTIC PHASE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45920" y="2331720"/>
            <a:ext cx="1645920" cy="45720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2395728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991B1B"/>
                </a:solidFill>
              </a:defRPr>
            </a:pPr>
            <a:r>
              <a:t>⏱ 4 WEEKS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260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74151"/>
                </a:solidFill>
              </a:defRPr>
            </a:pPr>
            <a:r>
              <a:t>✓ Fixed fee 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3832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74151"/>
                </a:solidFill>
              </a:defRPr>
            </a:pPr>
            <a:r>
              <a:t>✓ 4-5 resources (1 month FTE)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8404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74151"/>
                </a:solidFill>
              </a:defRPr>
            </a:pPr>
            <a:r>
              <a:t>✓ Comprehensive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976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74151"/>
                </a:solidFill>
              </a:defRPr>
            </a:pPr>
            <a:r>
              <a:t>✓ Root cause documentation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548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74151"/>
                </a:solidFill>
              </a:defRPr>
            </a:pPr>
            <a:r>
              <a:t>✓ Release advisory report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1463040"/>
            <a:ext cx="4023360" cy="4389120"/>
          </a:xfrm>
          <a:prstGeom prst="roundRect">
            <a:avLst/>
          </a:prstGeom>
          <a:solidFill>
            <a:srgbClr val="FFFBEB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63440" y="1463040"/>
            <a:ext cx="4023360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1600200"/>
            <a:ext cx="4023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🚀 EXECUTION PHASE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52160" y="2331720"/>
            <a:ext cx="1645920" cy="4572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0" y="2395728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📋 TBD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29260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74151"/>
                </a:solidFill>
              </a:defRPr>
            </a:pPr>
            <a:r>
              <a:t>⏳ Estimation post-diagnostic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33832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74151"/>
                </a:solidFill>
              </a:defRPr>
            </a:pPr>
            <a:r>
              <a:t>⏳ Dependent on fixable scope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8404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74151"/>
                </a:solidFill>
              </a:defRPr>
            </a:pPr>
            <a:r>
              <a:t>⏳ Detailed sprint planning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42976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74151"/>
                </a:solidFill>
              </a:defRPr>
            </a:pPr>
            <a:r>
              <a:t>⏳ Resource allocation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47548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74151"/>
                </a:solidFill>
              </a:defRPr>
            </a:pPr>
            <a:r>
              <a:t>⏳ Timeline confirmation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4297680" y="3200400"/>
            <a:ext cx="548640" cy="365760"/>
          </a:xfrm>
          <a:prstGeom prst="rightArrow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39"/>
            <a:ext cx="9144000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182880"/>
            <a:ext cx="731520" cy="7315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914400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228600"/>
            <a:ext cx="457200" cy="457200"/>
          </a:xfrm>
          <a:prstGeom prst="ellipse">
            <a:avLst/>
          </a:prstGeom>
          <a:solidFill>
            <a:srgbClr val="FBBF24"/>
          </a:solidFill>
          <a:ln w="2540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860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Risk Factors &amp; Dependencies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3931920" cy="164592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37160" cy="16459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5544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⚠️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6002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991B1B"/>
                </a:solidFill>
              </a:defRPr>
            </a:pPr>
            <a:r>
              <a:t>Third-Party SDKs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4884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74151"/>
                </a:solidFill>
              </a:defRPr>
            </a:pPr>
            <a:r>
              <a:t>External SDK behavior may limit optimization options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1463040"/>
            <a:ext cx="3931920" cy="164592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54880" y="1463040"/>
            <a:ext cx="137160" cy="16459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80" y="15544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16002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991B1B"/>
                </a:solidFill>
              </a:defRPr>
            </a:pPr>
            <a:r>
              <a:t>CMS Constraints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214884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74151"/>
                </a:solidFill>
              </a:defRPr>
            </a:pPr>
            <a:r>
              <a:t>Content Management System payload restrictions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291840"/>
            <a:ext cx="3931920" cy="164592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291840"/>
            <a:ext cx="137160" cy="16459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3832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4290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991B1B"/>
                </a:solidFill>
              </a:defRPr>
            </a:pPr>
            <a:r>
              <a:t>API Dependencies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977639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74151"/>
                </a:solidFill>
              </a:defRPr>
            </a:pPr>
            <a:r>
              <a:t>Launch-time API calls blocking user experience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0" y="3291840"/>
            <a:ext cx="3931920" cy="164592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754880" y="3291840"/>
            <a:ext cx="137160" cy="16459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83480" y="33832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34290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991B1B"/>
                </a:solidFill>
              </a:defRPr>
            </a:pPr>
            <a:r>
              <a:t>Device Fragmentation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80" y="3977639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74151"/>
                </a:solidFill>
              </a:defRPr>
            </a:pPr>
            <a:r>
              <a:t>Low-RAM device behavior variations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120640"/>
            <a:ext cx="3931920" cy="164592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5120640"/>
            <a:ext cx="137160" cy="16459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212079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52578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991B1B"/>
                </a:solidFill>
              </a:defRPr>
            </a:pPr>
            <a:r>
              <a:t>Release Maturity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80644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74151"/>
                </a:solidFill>
              </a:defRPr>
            </a:pPr>
            <a:r>
              <a:t>Current release process capabilities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54880" y="5120640"/>
            <a:ext cx="3931920" cy="164592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54880" y="5120640"/>
            <a:ext cx="137160" cy="16459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83480" y="5212079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52578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991B1B"/>
                </a:solidFill>
              </a:defRPr>
            </a:pPr>
            <a:r>
              <a:t>Environment Access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83480" y="580644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74151"/>
                </a:solidFill>
              </a:defRPr>
            </a:pPr>
            <a:r>
              <a:t>UAT/Production environment availability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0"/>
            <a:ext cx="9144000" cy="32004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-914400" y="3291840"/>
            <a:ext cx="10972800" cy="4572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914400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🎯 Final Deliverables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EF3C7"/>
                </a:solidFill>
              </a:defRPr>
            </a:pPr>
            <a:r>
              <a:t>Your comprehensive, data-backed performance roadmap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011680"/>
            <a:ext cx="137160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2057400"/>
            <a:ext cx="1371600" cy="21031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1945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9748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91B1B"/>
                </a:solidFill>
              </a:defRPr>
            </a:pPr>
            <a:r>
              <a:t>Improvement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918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374151"/>
                </a:solidFill>
              </a:defRPr>
            </a:pPr>
            <a:r>
              <a:t>What CAN be improved with estimated impact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2011680"/>
            <a:ext cx="137160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965960" y="2057400"/>
            <a:ext cx="1371600" cy="21031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0" y="21945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269748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91B1B"/>
                </a:solidFill>
              </a:defRPr>
            </a:pPr>
            <a:r>
              <a:t>Constraints Doc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2918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374151"/>
                </a:solidFill>
              </a:defRPr>
            </a:pPr>
            <a:r>
              <a:t>What CANNOT be improved &amp; why (SDK/CMS limits)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0" y="2011680"/>
            <a:ext cx="137160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520439" y="2057400"/>
            <a:ext cx="1371600" cy="21031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0" y="21945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269748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91B1B"/>
                </a:solidFill>
              </a:defRPr>
            </a:pPr>
            <a:r>
              <a:t>Uplift Range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32918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374151"/>
                </a:solidFill>
              </a:defRPr>
            </a:pPr>
            <a:r>
              <a:t>Expected performance gains per optimization area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0" y="2011680"/>
            <a:ext cx="137160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74920" y="2057400"/>
            <a:ext cx="1371600" cy="21031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0" y="21945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269748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91B1B"/>
                </a:solidFill>
              </a:defRPr>
            </a:pPr>
            <a:r>
              <a:t>Execution Plan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32918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374151"/>
                </a:solidFill>
              </a:defRPr>
            </a:pPr>
            <a:r>
              <a:t>Team structure &amp; timeline for implementation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0" y="2011680"/>
            <a:ext cx="137160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629400" y="2057400"/>
            <a:ext cx="1371600" cy="21031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0" y="21945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269748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91B1B"/>
                </a:solidFill>
              </a:defRPr>
            </a:pPr>
            <a:r>
              <a:t>Release Readiness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32918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374151"/>
                </a:solidFill>
              </a:defRPr>
            </a:pPr>
            <a:r>
              <a:t>Monthly release train feasibility assessment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4572000"/>
            <a:ext cx="7315200" cy="9144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846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🚀 North Star Aligned • Data-Backed • Feasible &amp; Actionable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