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1097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E7D"/>
                </a:solidFill>
              </a:defRPr>
            </a:pPr>
            <a:r>
              <a:t>Client 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28600"/>
            <a:ext cx="109728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926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E7D"/>
                </a:solidFill>
              </a:defRPr>
            </a:pPr>
            <a:r>
              <a:t>AB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E3250"/>
                </a:solidFill>
                <a:latin typeface="Calibri Light"/>
              </a:defRPr>
            </a:pPr>
            <a:r>
              <a:t>XYZ Mobile App</a:t>
            </a:r>
          </a:p>
          <a:p>
            <a:pPr>
              <a:spcBef>
                <a:spcPts val="1200"/>
              </a:spcBef>
              <a:defRPr sz="2400">
                <a:solidFill>
                  <a:srgbClr val="323741"/>
                </a:solidFill>
                <a:latin typeface="Calibri Light"/>
              </a:defRPr>
            </a:pPr>
            <a:r>
              <a:t>Performance &amp; Release Management Diagnostic</a:t>
            </a:r>
          </a:p>
          <a:p>
            <a:pPr>
              <a:spcBef>
                <a:spcPts val="2000"/>
              </a:spcBef>
              <a:defRPr sz="1600">
                <a:solidFill>
                  <a:srgbClr val="646E7D"/>
                </a:solidFill>
                <a:latin typeface="Calibri"/>
              </a:defRPr>
            </a:pPr>
            <a:r>
              <a:t>XYZ Company</a:t>
            </a:r>
          </a:p>
          <a:p>
            <a:pPr>
              <a:spcBef>
                <a:spcPts val="800"/>
              </a:spcBef>
              <a:defRPr sz="1400">
                <a:solidFill>
                  <a:srgbClr val="646E7D"/>
                </a:solidFill>
                <a:latin typeface="Calibri Light"/>
              </a:defRPr>
            </a:pPr>
            <a:r>
              <a:t>January 2026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286000"/>
            <a:ext cx="1097280" cy="1097280"/>
          </a:xfrm>
          <a:prstGeom prst="ellipse">
            <a:avLst/>
          </a:prstGeom>
          <a:solidFill>
            <a:srgbClr val="B4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0" y="2926080"/>
            <a:ext cx="731520" cy="73152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0" y="3657600"/>
            <a:ext cx="548640" cy="54864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389120"/>
            <a:ext cx="228600" cy="27432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4389120"/>
            <a:ext cx="228600" cy="411479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4389120"/>
            <a:ext cx="228600" cy="54864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4389120"/>
            <a:ext cx="228600" cy="68580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XYZ Mobile App Diagnostic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Confidential | Prepared for XYZ Company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Our Understanding of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Client seeks a diagnostic-driven assessment 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00200"/>
            <a:ext cx="274320" cy="27432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mobile app latency across Home, Insurance, Spend Track, Quiz &amp; other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6304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80" y="1600200"/>
            <a:ext cx="274320" cy="27432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6276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root causes behind long load times (6 seconds vs market 2–3 sec benchmark)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1460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651760"/>
            <a:ext cx="274320" cy="27432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6791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app size inflation (Android: 160MB → 400+MB installed; iOS: 402MB)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51460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3480" y="2651760"/>
            <a:ext cx="274320" cy="27432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67919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Determine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feasibility of moving to a monthly release 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3703320"/>
            <a:ext cx="274320" cy="27432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7307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fixes backed by measurable RCA (no assumptions)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566160"/>
            <a:ext cx="3931920" cy="9144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83480" y="3703320"/>
            <a:ext cx="274320" cy="27432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73075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Provide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a North Star performance vision to guide long-term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Scope of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Mapped to Reference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51760" cy="43891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51760" cy="45720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 Start – Pre‑Requisite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250"/>
                </a:solidFill>
                <a:latin typeface="Calibri"/>
              </a:defRPr>
            </a:pPr>
            <a:r>
              <a:t>AB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Mobile Performance Lead (Flutter)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Mobile Performance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Engineering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250"/>
                </a:solidFill>
                <a:latin typeface="Calibri"/>
              </a:defRPr>
            </a:pPr>
            <a:r>
              <a:t>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Access setup: source code, UAT builds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Journey &amp; technical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Environment &amp; build readiness confirmation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280160"/>
            <a:ext cx="2651760" cy="4389120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353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Diagnostic Pre‑Requisite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87451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82C8"/>
                </a:solidFill>
                <a:latin typeface="Calibri"/>
              </a:defRPr>
            </a:pPr>
            <a:r>
              <a:t>Inputs Needed From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Latest production build (APK/IPA)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Access to Analytics, CMS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API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108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Release pipeline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429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Third‑party SDK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280160"/>
            <a:ext cx="2651760" cy="4389120"/>
          </a:xfrm>
          <a:prstGeom prst="roundRect">
            <a:avLst/>
          </a:prstGeom>
          <a:solidFill>
            <a:srgbClr val="C8EBD2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13533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Client Responsibilities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646E7D"/>
                </a:solidFill>
              </a:defRPr>
            </a:pPr>
            <a:r>
              <a:t>[Placeholder for client-specific responsibilities and commitments]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North Star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Performance North Star (Industry Benchmarks)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8046720" cy="9144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Primary Screen Load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Current: 6.0 sec (Slow)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28800"/>
            <a:ext cx="3200400" cy="32004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8745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Market Benchmark: 2.0 sec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60" y="1874519"/>
            <a:ext cx="1188720" cy="228600"/>
          </a:xfrm>
          <a:prstGeom prst="rightArrow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60020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B48C"/>
                </a:solidFill>
              </a:defRPr>
            </a:pPr>
            <a:r>
              <a:t>67% faster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697479"/>
            <a:ext cx="228600" cy="22860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24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Tab-switch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150–250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5603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37560" y="2697479"/>
            <a:ext cx="228600" cy="22860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724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App size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0632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30–40% reduction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5603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9320" y="2697479"/>
            <a:ext cx="228600" cy="22860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724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API latency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0632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&lt;150 ms critical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069080"/>
            <a:ext cx="228600" cy="22860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9651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Frame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&lt;16 ms/frame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39319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37560" y="4069080"/>
            <a:ext cx="228600" cy="22860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09651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Release cadence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434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Monthly train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3931920"/>
            <a:ext cx="24688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89320" y="4069080"/>
            <a:ext cx="228600" cy="22860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096511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250"/>
                </a:solidFill>
              </a:defRPr>
            </a:pPr>
            <a:r>
              <a:t>Current trajectory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434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741"/>
                </a:solidFill>
              </a:defRPr>
            </a:pPr>
            <a:r>
              <a:t>Action required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577840"/>
            <a:ext cx="8046720" cy="457200"/>
          </a:xfrm>
          <a:prstGeom prst="roundRect">
            <a:avLst/>
          </a:prstGeom>
          <a:solidFill>
            <a:srgbClr val="FFFAE6"/>
          </a:solidFill>
          <a:ln w="12700">
            <a:solidFill>
              <a:srgbClr val="E6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150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⚠ These are reference benchmarks only. Final commitments will be established after RCA is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Assumptions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2743200" cy="4114800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250"/>
                </a:solidFill>
              </a:defRPr>
            </a:pPr>
            <a:r>
              <a:t>Critical Success Factors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These assumptions guide the diagnostic approach and determine feasibility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188720"/>
            <a:ext cx="5029200" cy="530352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3444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C82C8"/>
                </a:solidFill>
              </a:defRPr>
            </a:pPr>
            <a:r>
              <a:t>Prerequisite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All access (code, builds, dashboards) will be provided by the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10512"/>
            <a:ext cx="5029200" cy="530352"/>
          </a:xfrm>
          <a:prstGeom prst="roundRect">
            <a:avLst/>
          </a:prstGeom>
          <a:solidFill>
            <a:srgbClr val="FFEBC8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562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89632"/>
                </a:solidFill>
              </a:defRPr>
            </a:pPr>
            <a:r>
              <a:t>Technical 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Third‑party SDK behavior and CMS limitations may restrict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432304"/>
            <a:ext cx="5029200" cy="530352"/>
          </a:xfrm>
          <a:prstGeom prst="roundRect">
            <a:avLst/>
          </a:prstGeom>
          <a:solidFill>
            <a:srgbClr val="C8EBD2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47802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8B48C"/>
                </a:solidFill>
              </a:defRPr>
            </a:pPr>
            <a:r>
              <a:t>Scope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33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No changes to backend or CMS unless explicitly included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054096"/>
            <a:ext cx="5029200" cy="530352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9981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C82C8"/>
                </a:solidFill>
              </a:defRPr>
            </a:pPr>
            <a: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55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RCA outcomes will determine feasibility of performance enhancements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675888"/>
            <a:ext cx="5029200" cy="530352"/>
          </a:xfrm>
          <a:prstGeom prst="roundRect">
            <a:avLst/>
          </a:prstGeom>
          <a:solidFill>
            <a:srgbClr val="C8EBD2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72160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8B48C"/>
                </a:solidFill>
              </a:defRPr>
            </a:pPr>
            <a:r>
              <a:t>Data-Driven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770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Recommendations will be measurable and derived from profiling &amp;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97680"/>
            <a:ext cx="5029200" cy="530352"/>
          </a:xfrm>
          <a:prstGeom prst="roundRect">
            <a:avLst/>
          </a:prstGeom>
          <a:solidFill>
            <a:srgbClr val="FFEBC8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3434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89632"/>
                </a:solidFill>
              </a:defRPr>
            </a:pPr>
            <a:r>
              <a:t>Scope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498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Business‑driven UI/UX changes are out of scope unless mutually agreed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4919472"/>
            <a:ext cx="5029200" cy="530352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965192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C82C8"/>
                </a:solidFill>
              </a:defRPr>
            </a:pPr>
            <a:r>
              <a:t>Advisory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Release Management changes are advisory; implementation requires client DevOps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Architecture &amp; Design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Evaluating the mobile application ecosystem to support performance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840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2194560" y="1965960"/>
            <a:ext cx="274320" cy="274320"/>
          </a:xfrm>
          <a:prstGeom prst="ellipse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Modular, layered architecture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Asynchronous vs synchronous rendering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Lazy‑loading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Separation of concerns for future scalability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371600"/>
            <a:ext cx="3840480" cy="4114800"/>
          </a:xfrm>
          <a:prstGeom prst="roundRect">
            <a:avLst/>
          </a:prstGeom>
          <a:solidFill>
            <a:srgbClr val="C8EBD2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44475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Connectivity &amp; Governance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1965960"/>
            <a:ext cx="274320" cy="274320"/>
          </a:xfrm>
          <a:prstGeom prst="ellipse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3774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API sequencing, dependency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346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Third‑party SDK footprint &amp; load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Asset compression &amp; caching strategies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490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Release governance &amp; branching strategy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Proposed Diagnostic Architecture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286000" cy="2286000"/>
          </a:xfrm>
          <a:prstGeom prst="roundRect">
            <a:avLst/>
          </a:prstGeom>
          <a:solidFill>
            <a:srgbClr val="B4D2F0"/>
          </a:solidFill>
          <a:ln w="6350">
            <a:solidFill>
              <a:srgbClr val="3C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App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(Flutter)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State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19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Local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45920"/>
            <a:ext cx="2743200" cy="164592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Interaction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• CMS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2286000" cy="22860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250"/>
                </a:solidFill>
              </a:defRPr>
            </a:pPr>
            <a:r>
              <a:t>Backend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(Core Services)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2286000" cy="1371600"/>
          </a:xfrm>
          <a:prstGeom prst="roundRect">
            <a:avLst/>
          </a:prstGeom>
          <a:solidFill>
            <a:srgbClr val="C8EBD2"/>
          </a:solidFill>
          <a:ln w="6350">
            <a:solidFill>
              <a:srgbClr val="78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250"/>
                </a:solidFill>
              </a:defRPr>
            </a:pPr>
            <a:r>
              <a:t>Third‑Party SDKs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Fly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80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MarTech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80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480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Firebase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Performance Telemetry &amp; Analytics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623560"/>
            <a:ext cx="1188720" cy="274320"/>
          </a:xfrm>
          <a:prstGeom prst="round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5669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App 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5623560"/>
            <a:ext cx="1188720" cy="274320"/>
          </a:xfrm>
          <a:prstGeom prst="round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669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API Latency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5623560"/>
            <a:ext cx="1188720" cy="274320"/>
          </a:xfrm>
          <a:prstGeom prst="round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5669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623560"/>
            <a:ext cx="1188720" cy="274320"/>
          </a:xfrm>
          <a:prstGeom prst="round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56692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Crash/ANR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788920" y="2194560"/>
            <a:ext cx="365760" cy="182880"/>
          </a:xfrm>
          <a:prstGeom prst="rightArrow">
            <a:avLst/>
          </a:prstGeom>
          <a:solidFill>
            <a:srgbClr val="C8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989320" y="2194560"/>
            <a:ext cx="365760" cy="182880"/>
          </a:xfrm>
          <a:prstGeom prst="rightArrow">
            <a:avLst/>
          </a:prstGeom>
          <a:solidFill>
            <a:srgbClr val="C8CDD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Our Approach –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Week 0 to Week 4 Execution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554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554480" cy="45720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Setup &amp;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Access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Environment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Build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1463040"/>
            <a:ext cx="1554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03120" y="1463040"/>
            <a:ext cx="1554480" cy="45720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5361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011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Profiling &amp;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79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Load‑time benchmarking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API call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79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Size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79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Cache profiling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1463040"/>
            <a:ext cx="1554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1463040"/>
            <a:ext cx="1554480" cy="45720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15361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79" y="2011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RCA &amp; Observations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Root‑cause identification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Fixable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SDK 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Pipeline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1463040"/>
            <a:ext cx="1554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94960" y="1463040"/>
            <a:ext cx="1554480" cy="45720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15361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011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Discussions &amp; Verifications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Joint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Client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Feasibility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Release alignment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1463040"/>
            <a:ext cx="1554480" cy="41148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1463040"/>
            <a:ext cx="1554480" cy="45720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15361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0116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Final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Target alignment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Uplift 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Recommended fixes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23741"/>
                </a:solidFill>
              </a:defRPr>
            </a:pPr>
            <a:r>
              <a:t>• Execution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3520440"/>
            <a:ext cx="6949440" cy="18288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Team Structure – Diagnostic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017520" cy="41148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640080" cy="41148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447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4114800" cy="41148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447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301752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7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Mobile Performance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874519"/>
            <a:ext cx="640080" cy="502920"/>
          </a:xfrm>
          <a:prstGeom prst="rect">
            <a:avLst/>
          </a:prstGeom>
          <a:solidFill>
            <a:srgbClr val="B4D2F0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011679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74519"/>
            <a:ext cx="411480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Profiling, rendering, app load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23160"/>
            <a:ext cx="301752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Mobile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423160"/>
            <a:ext cx="640080" cy="502920"/>
          </a:xfrm>
          <a:prstGeom prst="rect">
            <a:avLst/>
          </a:prstGeom>
          <a:solidFill>
            <a:srgbClr val="B4D2F0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560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423160"/>
            <a:ext cx="411480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Code analysis, architecture assessment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301752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Solution Architect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971800"/>
            <a:ext cx="640080" cy="502920"/>
          </a:xfrm>
          <a:prstGeom prst="rect">
            <a:avLst/>
          </a:prstGeom>
          <a:solidFill>
            <a:srgbClr val="B4D2F0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108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971800"/>
            <a:ext cx="4114800" cy="502920"/>
          </a:xfrm>
          <a:prstGeom prst="rect">
            <a:avLst/>
          </a:prstGeom>
          <a:solidFill>
            <a:srgbClr val="FAFAFC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063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Architecture oversight and technical guidance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3017520" cy="502920"/>
          </a:xfrm>
          <a:prstGeom prst="rect">
            <a:avLst/>
          </a:prstGeom>
          <a:solidFill>
            <a:srgbClr val="F0F2F5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Engineering Manager / Program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520440"/>
            <a:ext cx="640080" cy="502920"/>
          </a:xfrm>
          <a:prstGeom prst="rect">
            <a:avLst/>
          </a:prstGeom>
          <a:solidFill>
            <a:srgbClr val="B4D2F0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6576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3250"/>
                </a:solidFill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520440"/>
            <a:ext cx="4114800" cy="502920"/>
          </a:xfrm>
          <a:prstGeom prst="rect">
            <a:avLst/>
          </a:prstGeom>
          <a:solidFill>
            <a:srgbClr val="F0F2F5"/>
          </a:solidFill>
          <a:ln w="3175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611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741"/>
                </a:solidFill>
              </a:defRPr>
            </a:pPr>
            <a:r>
              <a:t>Oversight, coordination, stakeholder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572000"/>
            <a:ext cx="1645920" cy="457200"/>
          </a:xfrm>
          <a:prstGeom prst="round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6817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Total: 3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Gantt Timeline – Diagnostic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Weeks 0–4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105156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4447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3250"/>
                </a:solidFill>
              </a:defRPr>
            </a:pPr>
            <a:r>
              <a:t>Week 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105156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447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3250"/>
                </a:solidFill>
              </a:defRPr>
            </a:pPr>
            <a:r>
              <a:t>Week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371600"/>
            <a:ext cx="105156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447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3250"/>
                </a:solidFill>
              </a:defRPr>
            </a:pPr>
            <a:r>
              <a:t>Week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105156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3250"/>
                </a:solidFill>
              </a:defRPr>
            </a:pPr>
            <a:r>
              <a:t>Week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371600"/>
            <a:ext cx="1051560" cy="365760"/>
          </a:xfrm>
          <a:prstGeom prst="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4447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3250"/>
                </a:solidFill>
              </a:defRPr>
            </a:pPr>
            <a: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Setup &amp;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011680"/>
            <a:ext cx="1005840" cy="32004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Profiling &amp;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514600"/>
            <a:ext cx="1005840" cy="32004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RCA &amp; Observations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017520"/>
            <a:ext cx="1005840" cy="32004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1187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Discussions &amp; Verifications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520439"/>
            <a:ext cx="1005840" cy="32004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1479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Final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023359"/>
            <a:ext cx="1005840" cy="32004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94176" y="1874519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1456" y="1874519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88736" y="1874519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86016" y="1874519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83296" y="1874519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Commercial Structure –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201168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🔍 Diagnostic Phase (4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Fixed fee (based on 4–5 resources for 1 month equivalent)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Covers analysis, RCA, reporting, release advisory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8046720" cy="1828800"/>
          </a:xfrm>
          <a:prstGeom prst="roundRect">
            <a:avLst/>
          </a:prstGeom>
          <a:solidFill>
            <a:srgbClr val="F0F2F5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🚀 Execution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To be estimated based on diagnostic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• Dependent on size of fixable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Risks &amp;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5087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Third‑party SDK 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488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762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External 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3716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5087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CMS payload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1488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1762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Platform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8803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Launch‑time API dependencies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5204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5478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Performance blocker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7432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83480" y="28803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29260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Device fragmentation &amp; low‑RAM behavior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35204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35478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Compatibility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148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2519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976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Release process maturity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48920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9194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Operational readiness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114800"/>
            <a:ext cx="3840480" cy="118872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83480" y="4251960"/>
            <a:ext cx="274320" cy="274320"/>
          </a:xfrm>
          <a:prstGeom prst="ellipse">
            <a:avLst/>
          </a:prstGeom>
          <a:solidFill>
            <a:srgbClr val="F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42976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741"/>
                </a:solidFill>
              </a:defRPr>
            </a:pPr>
            <a:r>
              <a:t>Environment availability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4892040"/>
            <a:ext cx="1371600" cy="2286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4919472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6E7D"/>
                </a:solidFill>
              </a:defRPr>
            </a:pPr>
            <a:r>
              <a:t>Access &amp; provisioning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Risk Levels: ⚠ High  ⚡ Medium  ✓ Low (to be assessed during diagnostic)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0"/>
            <a:ext cx="8046720" cy="9144"/>
          </a:xfrm>
          <a:prstGeom prst="rect">
            <a:avLst/>
          </a:prstGeom>
          <a:solidFill>
            <a:srgbClr val="C8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  <a:latin typeface="Calibri Light"/>
              </a:defRPr>
            </a:pPr>
            <a:r>
              <a:t>XYZ Mobile App Diagnostic | Confidential | January 2026</a:t>
            </a:r>
          </a:p>
          <a:p>
            <a:pPr algn="r">
              <a:defRPr sz="800">
                <a:solidFill>
                  <a:srgbClr val="646E7D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250"/>
                </a:solidFill>
                <a:latin typeface="Calibri Light"/>
              </a:defRPr>
            </a:pPr>
            <a:r>
              <a:t>Final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  <a:latin typeface="Calibri"/>
              </a:defRPr>
            </a:pPr>
            <a:r>
              <a:t>North‑Star aligned, data‑backed performance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20240" cy="27432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920240" cy="365760"/>
          </a:xfrm>
          <a:prstGeom prst="rect">
            <a:avLst/>
          </a:prstGeom>
          <a:solidFill>
            <a:srgbClr val="3C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250"/>
                </a:solidFill>
              </a:defRPr>
            </a:pPr>
            <a:r>
              <a:t>What can be 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741"/>
                </a:solidFill>
              </a:defRPr>
            </a:pPr>
            <a:r>
              <a:t>Detailed technical recommendations with estimated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463040"/>
            <a:ext cx="1920240" cy="27432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463040"/>
            <a:ext cx="1920240" cy="365760"/>
          </a:xfrm>
          <a:prstGeom prst="rect">
            <a:avLst/>
          </a:prstGeom>
          <a:solidFill>
            <a:srgbClr val="C8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250"/>
                </a:solidFill>
              </a:defRPr>
            </a:pPr>
            <a:r>
              <a:t>What cannot be improved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741"/>
                </a:solidFill>
              </a:defRPr>
            </a:pPr>
            <a:r>
              <a:t>Constraints documentation with technical rationale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463040"/>
            <a:ext cx="1920240" cy="27432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463040"/>
            <a:ext cx="1920240" cy="365760"/>
          </a:xfrm>
          <a:prstGeom prst="rect">
            <a:avLst/>
          </a:prstGeom>
          <a:solidFill>
            <a:srgbClr val="78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32120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8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250"/>
                </a:solidFill>
              </a:defRPr>
            </a:pPr>
            <a:r>
              <a:t>Expected uplift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741"/>
                </a:solidFill>
              </a:defRPr>
            </a:pPr>
            <a:r>
              <a:t>Quantified performance gains per optimization category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463040"/>
            <a:ext cx="1920240" cy="2743200"/>
          </a:xfrm>
          <a:prstGeom prst="roundRect">
            <a:avLst/>
          </a:prstGeom>
          <a:solidFill>
            <a:srgbClr val="FAFAFC"/>
          </a:solidFill>
          <a:ln w="635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1463040"/>
            <a:ext cx="1920240" cy="36576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196596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250"/>
                </a:solidFill>
              </a:defRPr>
            </a:pPr>
            <a:r>
              <a:t>Team &amp;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741"/>
                </a:solidFill>
              </a:defRPr>
            </a:pPr>
            <a:r>
              <a:t>Recommended structure and implementation roadmap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8046720" cy="731520"/>
          </a:xfrm>
          <a:prstGeom prst="roundRect">
            <a:avLst/>
          </a:prstGeom>
          <a:solidFill>
            <a:srgbClr val="C8EBD2"/>
          </a:solidFill>
          <a:ln w="25400">
            <a:solidFill>
              <a:srgbClr val="78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8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800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250"/>
                </a:solidFill>
              </a:defRPr>
            </a:pPr>
            <a:r>
              <a:t>Monthly Release Readiness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749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741"/>
                </a:solidFill>
              </a:defRPr>
            </a:pPr>
            <a:r>
              <a:t>Specific capability gaps and transition roadmap for predictable monthly releases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