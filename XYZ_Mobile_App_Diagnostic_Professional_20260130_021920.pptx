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C3C3C"/>
                </a:solidFill>
                <a:latin typeface="Calibri Light"/>
              </a:defRPr>
            </a:pPr>
            <a:r>
              <a:t>XYZ Mobile App</a:t>
            </a:r>
          </a:p>
          <a:p>
            <a:pPr algn="l">
              <a:spcBef>
                <a:spcPts val="800"/>
              </a:spcBef>
              <a:defRPr sz="2600" b="0">
                <a:solidFill>
                  <a:srgbClr val="646464"/>
                </a:solidFill>
                <a:latin typeface="Calibri Light"/>
              </a:defRPr>
            </a:pPr>
            <a:r>
              <a:t>Performance &amp; Release Management Diagnostic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768096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43232"/>
                </a:solidFill>
                <a:latin typeface="Calibri"/>
              </a:defRPr>
            </a:pPr>
            <a:r>
              <a:t>Prepared for XYZ Company</a:t>
            </a:r>
          </a:p>
          <a:p>
            <a:pPr algn="l">
              <a:defRPr sz="1100">
                <a:solidFill>
                  <a:srgbClr val="646464"/>
                </a:solidFill>
                <a:latin typeface="Calibri Light"/>
              </a:defRPr>
            </a:pPr>
            <a:r>
              <a:t>January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5943600"/>
            <a:ext cx="64008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Our Understanding of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Client seeks a diagnostic-driven assessment to address the following objectives: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Analyze mobile app latency across Home, Insurance, Spend Track, Quiz and other critical user flows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Identify root causes behind extended load times (6 seconds observed vs. 2–3 second market benchmark)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Understand app size inflation patterns and growth trajectory (Android: 160MB to 400+MB installed; iOS: 402MB)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Determine feasibility and requirements for transitioning to a monthly release cycle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Recommend specific fixes backed by measurable Root Cause Analysis—no assumptions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Provide a North Star performance vision to guide long-term optimization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Scope of Diagnostic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AB Team Resources &amp;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3232"/>
                </a:solidFill>
                <a:latin typeface="Calibri Light"/>
              </a:defRPr>
            </a:pPr>
            <a: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3C3C"/>
                </a:solidFill>
                <a:latin typeface="Calibri"/>
              </a:defRPr>
            </a:pPr>
            <a:r>
              <a:t>Mobile Performance Lead (Flutter)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Senior specialist in mobile performance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3232"/>
                </a:solidFill>
                <a:latin typeface="Calibri Light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3C3C"/>
                </a:solidFill>
                <a:latin typeface="Calibri"/>
              </a:defRPr>
            </a:pPr>
            <a:r>
              <a:t>Mobile Performance 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Technical implementation and profiling expertise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43232"/>
                </a:solidFill>
                <a:latin typeface="Calibri Light"/>
              </a:defRPr>
            </a:pPr>
            <a: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C3C3C"/>
                </a:solidFill>
                <a:latin typeface="Calibri"/>
              </a:defRPr>
            </a:pPr>
            <a:r>
              <a:t>Engineering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Program management and client coordination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384048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Access setup: source code repository, UAT builds, deployment environments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Comprehensive journey mapping and technical architecture walkthrough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Environment validation and build readiness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188720"/>
            <a:ext cx="13716" cy="4754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005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Required Client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46304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Latest production build packages (APK for Android, IPA for iOS)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Access credentials for Analytics dashboards and CMS platforms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Complete API documentation and endpoint specifications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Release pipeline documentation and deployment procedures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Comprehensive third-party SDK inventory and integration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North Star 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Performance benchmarks aligned with industry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10312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463040"/>
            <a:ext cx="164592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164592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164592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554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574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Primary screen load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057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2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057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6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67%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450592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877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Tab-switch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5877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150–250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877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&gt;500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58775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50%+ improvement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80944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11810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App size (installed)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1181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30–40% reduction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1181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Growing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18104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Size optimization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11296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4845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API latency (critical)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64845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&lt;150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4845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300+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64845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Sub-150ms target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041648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7880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Frame render stability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1788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&lt;16 ms/frame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1788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Janky frames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17880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Smooth 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091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C3C3C"/>
                </a:solidFill>
                <a:latin typeface="Calibri"/>
              </a:defRPr>
            </a:pPr>
            <a:r>
              <a:t>Release cadence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709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C783C"/>
                </a:solidFill>
                <a:latin typeface="Calibri"/>
              </a:defRPr>
            </a:pPr>
            <a:r>
              <a:t>Monthly train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709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43232"/>
                </a:solidFill>
                <a:latin typeface="Calibri"/>
              </a:defRPr>
            </a:pPr>
            <a:r>
              <a:t>Ad-hoc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709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  <a:latin typeface="Calibri"/>
              </a:defRPr>
            </a:pPr>
            <a:r>
              <a:t>Predictable cycle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6464"/>
                </a:solidFill>
                <a:latin typeface="Calibri Light"/>
              </a:defRPr>
            </a:pPr>
            <a:r>
              <a:t>Note: These are reference benchmarks only. Actual commitments will be determined following completion of Root Cause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Key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2801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Client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361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All required access (source code, builds, dashboards) will be provided by the client in a timely manner to maintain project schedule.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2801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2984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801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Technical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5361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Third-party SDK behavior and CMS platform limitations may restrict the scope of possible optimizations.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6517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700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Scope Boundaries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07791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No changes to backend systems or CMS platforms unless explicitly included within the engagement scope.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6517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6700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RCA-Driven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907791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Root Cause Analysis outcomes will determine feasibility—not all identified issues may be technically fixable.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0233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416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23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Data-Driven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All recommendations will be measurable and derived from systematic profiling and telemetry data analysis.</a:t>
            </a:r>
          </a:p>
        </p:txBody>
      </p:sp>
      <p:sp>
        <p:nvSpPr>
          <p:cNvPr id="28" name="Oval 27"/>
          <p:cNvSpPr/>
          <p:nvPr/>
        </p:nvSpPr>
        <p:spPr>
          <a:xfrm>
            <a:off x="4754880" y="40233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0416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0233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UX 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2793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Business-driven UI/UX changes are considered out of scope unless mutually agreed upon via change request process.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5394960"/>
            <a:ext cx="228600" cy="228600"/>
          </a:xfrm>
          <a:prstGeom prst="ellipse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13248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DF8"/>
                </a:solidFill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94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C3C3C"/>
                </a:solidFill>
                <a:latin typeface="Calibri"/>
              </a:defRPr>
            </a:pPr>
            <a:r>
              <a:t>Advisory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5099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  <a:latin typeface="Calibri Light"/>
              </a:defRPr>
            </a:pPr>
            <a:r>
              <a:t>Release Management recommendations are advisory; implementation requires client DevOps team involvement.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Architecture &amp; Design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Modular, layered architecture assessment with dependency mapping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API sequencing optimization and dependency chain analysis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Asynchronous vs synchronous rendering path evaluation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Third-party SDK footprint analysis and load behavior profiling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Lazy-loading feasibility study for non-critical resources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Asset compression strategies and intelligent caching mechanisms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Separation of concerns for future scalability and maintainability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Release governance framework and branching strategy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Proposed Diagnostic Architecture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Mobile application frontend architecture (Flutter framework deep-dive)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API Gateway interaction patterns and latency bottlenecks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Content Management System driven modules and payload optimization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Third-party SDK integrations (Fly, MarTech, Payments, Firebase)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Performance telemetry flows and monitoring infrastructure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Release pipeline automation and CI/CD workflow assessment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Diagnostic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Week 0 through Week 4 execution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6809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371600"/>
            <a:ext cx="1280160" cy="457200"/>
          </a:xfrm>
          <a:prstGeom prst="rect">
            <a:avLst/>
          </a:prstGeom>
          <a:solidFill>
            <a:srgbClr val="FCF8F0"/>
          </a:solidFill>
          <a:ln w="127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Week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3232"/>
                </a:solidFill>
              </a:defRPr>
            </a:pPr>
            <a:r>
              <a:t>Setup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Access provisioning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Environment configuration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Build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371600"/>
            <a:ext cx="1280160" cy="457200"/>
          </a:xfrm>
          <a:prstGeom prst="rect">
            <a:avLst/>
          </a:prstGeom>
          <a:solidFill>
            <a:srgbClr val="FAF0D2"/>
          </a:solidFill>
          <a:ln w="127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44475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920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3232"/>
                </a:solidFill>
              </a:defRPr>
            </a:pPr>
            <a:r>
              <a:t>Profiling &amp;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56032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Load-time benchmarking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API call mapping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Size breakdown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Cache profiling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371600"/>
            <a:ext cx="1280160" cy="457200"/>
          </a:xfrm>
          <a:prstGeom prst="rect">
            <a:avLst/>
          </a:prstGeom>
          <a:solidFill>
            <a:srgbClr val="FCF8F0"/>
          </a:solidFill>
          <a:ln w="127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44475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Week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20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3232"/>
                </a:solidFill>
              </a:defRPr>
            </a:pPr>
            <a:r>
              <a:t>RCA &amp; Observations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56032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Root-cause identification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Fixable vs dependency analysis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SDK constraints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Pipeline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371600"/>
            <a:ext cx="1280160" cy="457200"/>
          </a:xfrm>
          <a:prstGeom prst="rect">
            <a:avLst/>
          </a:prstGeom>
          <a:solidFill>
            <a:srgbClr val="FAF0D2"/>
          </a:solidFill>
          <a:ln w="127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144475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Week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1920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3232"/>
                </a:solidFill>
              </a:defRPr>
            </a:pPr>
            <a: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56032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Joint walkthrough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Client team validation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Feasibility confirmation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Release alignment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71600"/>
            <a:ext cx="1280160" cy="457200"/>
          </a:xfrm>
          <a:prstGeom prst="rect">
            <a:avLst/>
          </a:prstGeom>
          <a:solidFill>
            <a:srgbClr val="FCF8F0"/>
          </a:solidFill>
          <a:ln w="127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1444752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920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43232"/>
                </a:solidFill>
              </a:defRPr>
            </a:pPr>
            <a:r>
              <a:t>Final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60320"/>
            <a:ext cx="1188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Target alignment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Uplift estimation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Fixes list</a:t>
            </a:r>
          </a:p>
          <a:p>
            <a:pPr>
              <a:spcAft>
                <a:spcPts val="300"/>
              </a:spcAft>
              <a:defRPr sz="800">
                <a:solidFill>
                  <a:srgbClr val="646464"/>
                </a:solidFill>
              </a:defRPr>
            </a:pPr>
            <a:r>
              <a:t>• Execution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Team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29184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371600"/>
            <a:ext cx="64008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4630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371600"/>
            <a:ext cx="3657600" cy="41148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  <a:latin typeface="Calibri"/>
              </a:defRPr>
            </a:pPr>
            <a:r>
              <a:t>Responsibility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29184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9339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Mobile Performance Lead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828800"/>
            <a:ext cx="640080" cy="548640"/>
          </a:xfrm>
          <a:prstGeom prst="rect">
            <a:avLst/>
          </a:prstGeom>
          <a:solidFill>
            <a:srgbClr val="FAF0D2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99339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28800"/>
            <a:ext cx="365760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9385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Performance profiling, rendering optimization, app load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23160"/>
            <a:ext cx="329184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5877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Mobile Engineer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423160"/>
            <a:ext cx="640080" cy="548640"/>
          </a:xfrm>
          <a:prstGeom prst="rect">
            <a:avLst/>
          </a:prstGeom>
          <a:solidFill>
            <a:srgbClr val="FAF0D2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5877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23160"/>
            <a:ext cx="365760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5328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Code analysis, architecture assessment, technical implementation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329184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8211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Solution Architect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3017520"/>
            <a:ext cx="640080" cy="548640"/>
          </a:xfrm>
          <a:prstGeom prst="rect">
            <a:avLst/>
          </a:prstGeom>
          <a:solidFill>
            <a:srgbClr val="FAF0D2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18211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017520"/>
            <a:ext cx="3657600" cy="548640"/>
          </a:xfrm>
          <a:prstGeom prst="rect">
            <a:avLst/>
          </a:prstGeom>
          <a:solidFill>
            <a:srgbClr val="FFFDF8"/>
          </a:solidFill>
          <a:ln w="317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27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Engineering management, program oversight, strategic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43232"/>
                </a:solidFill>
                <a:latin typeface="Calibri"/>
              </a:defRPr>
            </a:pPr>
            <a:r>
              <a:t>Total Team: 3 Members (Diagnostic Phase)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Project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Week-level Gantt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371600"/>
            <a:ext cx="1005840" cy="36576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Week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371600"/>
            <a:ext cx="1005840" cy="36576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Week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371600"/>
            <a:ext cx="1005840" cy="36576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Week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79" y="1371600"/>
            <a:ext cx="1005840" cy="36576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Week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371600"/>
            <a:ext cx="1005840" cy="365760"/>
          </a:xfrm>
          <a:prstGeom prst="rect">
            <a:avLst/>
          </a:prstGeom>
          <a:solidFill>
            <a:srgbClr val="FCF8F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3C3C3C"/>
                </a:solidFill>
              </a:defRPr>
            </a:pPr>
            <a:r>
              <a:t>Week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10312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Setup &amp;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011680"/>
            <a:ext cx="960120" cy="320040"/>
          </a:xfrm>
          <a:prstGeom prst="rect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606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Profiling &amp; 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514600"/>
            <a:ext cx="960120" cy="320040"/>
          </a:xfrm>
          <a:prstGeom prst="rect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089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RCA &amp; Observations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017520"/>
            <a:ext cx="960120" cy="320040"/>
          </a:xfrm>
          <a:prstGeom prst="rect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61187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Discussions &amp; Validation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79" y="3520439"/>
            <a:ext cx="960120" cy="320040"/>
          </a:xfrm>
          <a:prstGeom prst="rect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1479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Final 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023359"/>
            <a:ext cx="960120" cy="320040"/>
          </a:xfrm>
          <a:prstGeom prst="rect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Commercial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CF8F0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4023360" cy="548640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C3C3C"/>
                </a:solidFill>
              </a:defRPr>
            </a:pPr>
            <a:r>
              <a:t>Diagnostic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Duration: 4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Pricing: Fixed fee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Resources: 4–5 FTEs (1 month equivalent)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7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Deliverables: Analysis, RCA, reporting, advisory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4023360" cy="3200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371600"/>
            <a:ext cx="4023360" cy="548640"/>
          </a:xfrm>
          <a:prstGeom prst="rect">
            <a:avLst/>
          </a:prstGeom>
          <a:solidFill>
            <a:srgbClr val="FAF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481328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C3C3C"/>
                </a:solidFill>
              </a:defRPr>
            </a:pPr>
            <a:r>
              <a:t>Execution Phase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057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Pricing: Estimated post-diagnostic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Scope: Dependent on fixable items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788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Timeline: To be determined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15467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C3C3C"/>
                </a:solidFill>
              </a:defRPr>
            </a:pPr>
            <a:r>
              <a:t>• Resources: Flexible allocation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97680" y="2560320"/>
            <a:ext cx="640080" cy="228600"/>
          </a:xfrm>
          <a:prstGeom prst="rightArrow">
            <a:avLst/>
          </a:prstGeom>
          <a:solidFill>
            <a:srgbClr val="DCB464"/>
          </a:solidFill>
          <a:ln w="12700">
            <a:solidFill>
              <a:srgbClr val="AA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Risks &amp;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Third-party SDK limitations may constrain optimization options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CMS payload restrictions could impact content delivery performance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Launch-time API dependencies may block user experience improvements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Device fragmentation and low-RAM behavior variations across Android devices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Release process maturity level may affect implementation timeline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Environment availability and access provisioning delays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DF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13716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  <a:latin typeface="Calibri Light"/>
              </a:defRPr>
            </a:pPr>
            <a:r>
              <a:t>XYZ Company | Performance Diagnostic Proposal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C3C3C"/>
                </a:solidFill>
                <a:latin typeface="Calibri Light"/>
              </a:defRPr>
            </a:pPr>
            <a:r>
              <a:t>Final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C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464"/>
                </a:solidFill>
                <a:latin typeface="Calibri Light"/>
              </a:defRPr>
            </a:pPr>
            <a:r>
              <a:t>A North Star aligned, data-backed, feasible performance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Detailed assessment of what can be improved with specific technical recommendations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Clear documentation of what cannot be improved and underlying technical constraints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Quantified expected performance uplift ranges per optimization category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Recommended team structure and implementation timeline for execution phase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1100">
                <a:solidFill>
                  <a:srgbClr val="3C3C3C"/>
                </a:solidFill>
                <a:latin typeface="Calibri"/>
              </a:defRPr>
            </a:pPr>
            <a:r>
              <a:t>Monthly release train readiness assessment with specific capability gaps identified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8229600" cy="548640"/>
          </a:xfrm>
          <a:prstGeom prst="rect">
            <a:avLst/>
          </a:prstGeom>
          <a:solidFill>
            <a:srgbClr val="FCF8F0"/>
          </a:solidFill>
          <a:ln w="25400">
            <a:solidFill>
              <a:srgbClr val="DCB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43232"/>
                </a:solidFill>
              </a:defRPr>
            </a:pPr>
            <a:r>
              <a:t>North Star Aligned • Data-Backed • Feasible &amp; Actionable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