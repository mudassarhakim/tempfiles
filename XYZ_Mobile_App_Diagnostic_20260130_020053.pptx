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XYZ Mobile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Performance &amp; Release Management Diagnostic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800"/>
                </a:solidFill>
              </a:defRPr>
            </a:pPr>
            <a:r>
              <a:t>XYZ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Our Understanding of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Client seeks a diagnostic-driven assessment to: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Analyze mobile app latency across Home, Insurance, Spend Track, Quiz &amp; other flows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Identify root causes behind long load times (6 seconds vs market 2–3 sec benchmark)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Understand app size inflation (Android: 160MB → 400+MB installed; iOS: 402MB)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Determine feasibility of moving to a monthly release cycle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Recommend fixes backed by measurable RCA (no assumptions)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Provide a North Star performance vision to guide long-term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Scope of Diagnostic (Mapped to Reference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0000"/>
                </a:solidFill>
              </a:defRPr>
            </a:pPr>
            <a:r>
              <a:t>Project Start – Pre-Requisite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r>
              <a:t>AB Team: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r>
              <a:t>• Mobile Performance Lead (Flutter)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r>
              <a:t>• Mobile Performance Engineer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r>
              <a:t>• Engineering Manager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r>
              <a:t>Activities: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r>
              <a:t>• Access setup: source code, UAT builds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r>
              <a:t>• Journey &amp; technical walkthrough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r>
              <a:t>• Environment &amp; build readiness confirmation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0000"/>
                </a:solidFill>
              </a:defRPr>
            </a:pPr>
            <a:r>
              <a:t>Diagnostic Pre-Requisite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Inputs Needed From Client: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• Latest production build (APK/IPA)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• Access to Analytics, CMS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• API documentation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• Release pipeline documentation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• Third-party SDK 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North Star Vision (Benchmarking)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0000"/>
                </a:solidFill>
              </a:defRPr>
            </a:pPr>
            <a:r>
              <a:t>Performance North Star (Industry Benchmarks)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Primary screen load time: 2 seconds (Market), Current 6 seconds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Tab-switch latency: 150–250 ms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App Size Target: 30%–40% reduction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API latency goal: &lt;150 ms for critical flows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Rendering frame stability: &lt;16ms per frame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Release cadence: Predictable Monthly Release Train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Note: These are reference benchmarks only, not commitments until RCA is completed.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All access (code, builds, dashboards) will be provided by the client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Third-party SDK behavior and CMS limitations may restrict optimization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No changes to backend or CMS unless explicitly included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RCA outcomes will determine feasibility of performance enhancements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Recommendations will be measurable and derived from profiling &amp; data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Any business-driven UI/UX changes are out of scope unless mutually agreed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Release Management changes are advisory; implementation may require client DevOps involvement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Architecture &amp; Design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Modular, layered architecture assessment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API sequencing, dependency mapping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Asynchronous vs synchronous rendering optimization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Third-party SDK footprint &amp; load behavior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Lazy-loading feasibility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Asset compression &amp; caching strategies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Separation of concerns for future scalability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Release governance &amp; branching strategy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Proposed Diagnostic Architecture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Includes review of: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App frontend architecture (Flutter)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API Gateway interactions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CMS-driven modules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Third-party SDK integrations (Fly, MarTech, Payments, Firebase)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Performance telemetry flows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Release pipeline &amp; CI/CD workflows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Our Approach (Diagnostic) – Week 0 to Week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2743200" cy="2194560"/>
          </a:xfrm>
          <a:prstGeom prst="roundRect">
            <a:avLst/>
          </a:prstGeom>
          <a:solidFill>
            <a:srgbClr val="FFF5C8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0000"/>
                </a:solidFill>
              </a:defRPr>
            </a:pPr>
            <a:r>
              <a:t>Week 0 – Setup &amp;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• Access provisioning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Environment setup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Build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280160"/>
            <a:ext cx="2743200" cy="2194560"/>
          </a:xfrm>
          <a:prstGeom prst="roundRect">
            <a:avLst/>
          </a:prstGeom>
          <a:solidFill>
            <a:srgbClr val="FFF5C8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71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0000"/>
                </a:solidFill>
              </a:defRPr>
            </a:pPr>
            <a:r>
              <a:t>Week 1 – Profiling &amp;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7373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• Load-time benchmarking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API call mapping &amp; latency analysis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App size/composition breakdown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Cache &amp; render-path profiling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743200" cy="2194560"/>
          </a:xfrm>
          <a:prstGeom prst="roundRect">
            <a:avLst/>
          </a:prstGeom>
          <a:solidFill>
            <a:srgbClr val="FFF5C8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0000"/>
                </a:solidFill>
              </a:defRPr>
            </a:pPr>
            <a:r>
              <a:t>Week 2 – RCA &amp;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• Root-cause identification (H/M/L)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Fixable vs dependency-driven issues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Third-party SDK constraints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Release pipeline maturity 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3840480"/>
            <a:ext cx="2743200" cy="2194560"/>
          </a:xfrm>
          <a:prstGeom prst="roundRect">
            <a:avLst/>
          </a:prstGeom>
          <a:solidFill>
            <a:srgbClr val="FFF5C8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3931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0000"/>
                </a:solidFill>
              </a:defRPr>
            </a:pPr>
            <a:r>
              <a:t>Week 3 – Discussions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976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• Joint walkthrough of findings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Validation with client teams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Feasibility confirmation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Monthly release model alignment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840480"/>
            <a:ext cx="2743200" cy="2194560"/>
          </a:xfrm>
          <a:prstGeom prst="roundRect">
            <a:avLst/>
          </a:prstGeom>
          <a:solidFill>
            <a:srgbClr val="FFF5C8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3931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0000"/>
                </a:solidFill>
              </a:defRPr>
            </a:pPr>
            <a:r>
              <a:t>Week 4 – Final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42976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• North Star vs Achievable Targets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Performance uplift range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Recommended fixes</a:t>
            </a:r>
          </a:p>
          <a:p>
            <a:pPr>
              <a:defRPr sz="900">
                <a:solidFill>
                  <a:srgbClr val="000000"/>
                </a:solidFill>
              </a:defRPr>
            </a:pPr>
            <a:r>
              <a:t>• Execution Plan &amp; Sizing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Team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200400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1371600"/>
            <a:ext cx="731520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463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Responsibility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77440"/>
            <a:ext cx="3200400" cy="502920"/>
          </a:xfrm>
          <a:prstGeom prst="rect">
            <a:avLst/>
          </a:prstGeom>
          <a:solidFill>
            <a:srgbClr val="FFF5C8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Mobile Performance Lead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2377440"/>
            <a:ext cx="731520" cy="502920"/>
          </a:xfrm>
          <a:prstGeom prst="rect">
            <a:avLst/>
          </a:prstGeom>
          <a:solidFill>
            <a:srgbClr val="FFF5C8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468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377440"/>
            <a:ext cx="4114800" cy="502920"/>
          </a:xfrm>
          <a:prstGeom prst="rect">
            <a:avLst/>
          </a:prstGeom>
          <a:solidFill>
            <a:srgbClr val="FFF5C8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Profiling, rendering, app load optimization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3200400" cy="502920"/>
          </a:xfrm>
          <a:prstGeom prst="rect">
            <a:avLst/>
          </a:prstGeom>
          <a:solidFill>
            <a:srgbClr val="FFF5C8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175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Mobile Engineer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926080"/>
            <a:ext cx="731520" cy="502920"/>
          </a:xfrm>
          <a:prstGeom prst="rect">
            <a:avLst/>
          </a:prstGeom>
          <a:solidFill>
            <a:srgbClr val="FFF5C8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3017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926080"/>
            <a:ext cx="4114800" cy="502920"/>
          </a:xfrm>
          <a:prstGeom prst="rect">
            <a:avLst/>
          </a:prstGeom>
          <a:solidFill>
            <a:srgbClr val="FFF5C8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0175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Code analysis, architecture assessment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74720"/>
            <a:ext cx="3200400" cy="502920"/>
          </a:xfrm>
          <a:prstGeom prst="rect">
            <a:avLst/>
          </a:prstGeom>
          <a:solidFill>
            <a:srgbClr val="FFF5C8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5661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Solution Architect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3474720"/>
            <a:ext cx="731520" cy="502920"/>
          </a:xfrm>
          <a:prstGeom prst="rect">
            <a:avLst/>
          </a:prstGeom>
          <a:solidFill>
            <a:srgbClr val="FFF5C8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5661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474720"/>
            <a:ext cx="4114800" cy="502920"/>
          </a:xfrm>
          <a:prstGeom prst="rect">
            <a:avLst/>
          </a:prstGeom>
          <a:solidFill>
            <a:srgbClr val="FFF5C8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566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Engineering Manager, Program Management,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0000"/>
                </a:solidFill>
              </a:defRPr>
            </a:pPr>
            <a:r>
              <a:t>Total Team: 3 Members (Diagnostic Phase)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Gantt Timeline (Week-Level)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371600"/>
            <a:ext cx="960120" cy="36576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41732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W0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71600"/>
            <a:ext cx="960120" cy="36576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1732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371600"/>
            <a:ext cx="960120" cy="36576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41732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371600"/>
            <a:ext cx="960120" cy="36576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1732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371600"/>
            <a:ext cx="960120" cy="36576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41732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468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Week 0 – Setup &amp;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514600"/>
            <a:ext cx="960120" cy="320040"/>
          </a:xfrm>
          <a:prstGeom prst="rect">
            <a:avLst/>
          </a:prstGeom>
          <a:solidFill>
            <a:srgbClr val="FFC800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1089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Week 1 – Profiling &amp;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154680"/>
            <a:ext cx="960120" cy="320040"/>
          </a:xfrm>
          <a:prstGeom prst="rect">
            <a:avLst/>
          </a:prstGeom>
          <a:solidFill>
            <a:srgbClr val="FFC800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7490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Week 2 – RCA &amp; Observations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3794760"/>
            <a:ext cx="960120" cy="320040"/>
          </a:xfrm>
          <a:prstGeom prst="rect">
            <a:avLst/>
          </a:prstGeom>
          <a:solidFill>
            <a:srgbClr val="FFC800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3891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Week 3 – Discussions &amp; Verifications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4434840"/>
            <a:ext cx="960120" cy="320040"/>
          </a:xfrm>
          <a:prstGeom prst="rect">
            <a:avLst/>
          </a:prstGeom>
          <a:solidFill>
            <a:srgbClr val="FFC800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029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Week 4 – Final Report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5074920"/>
            <a:ext cx="960120" cy="320040"/>
          </a:xfrm>
          <a:prstGeom prst="rect">
            <a:avLst/>
          </a:prstGeom>
          <a:solidFill>
            <a:srgbClr val="FFC800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Commercial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931920" cy="2286000"/>
          </a:xfrm>
          <a:prstGeom prst="roundRect">
            <a:avLst/>
          </a:prstGeom>
          <a:solidFill>
            <a:srgbClr val="FFF5C8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0000"/>
                </a:solidFill>
              </a:defRPr>
            </a:pPr>
            <a:r>
              <a:t>Diagnostic Phase (4 Weeks)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Fixed fee (based on 4–5 resources for 1 month equivalent)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Covers analysis, RCA, reporting, release advisory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371600"/>
            <a:ext cx="3931920" cy="2286000"/>
          </a:xfrm>
          <a:prstGeom prst="roundRect">
            <a:avLst/>
          </a:prstGeom>
          <a:solidFill>
            <a:srgbClr val="FFF5C8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46304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0000"/>
                </a:solidFill>
              </a:defRPr>
            </a:pPr>
            <a:r>
              <a:t>Execution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0116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To be estimated based on diagnostic output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Dependent on size of fixable items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Risks &amp;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Third-party SDK limitations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CMS payload constraints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Launch-time API dependencies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Device fragmentation &amp; low-RAM behavior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Release process maturity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• Environment availability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Final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0000"/>
                </a:solidFill>
              </a:defRPr>
            </a:pPr>
            <a:r>
              <a:t>A North-Star aligned, data-backed, feasible performance roadmap including: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What can be improved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What cannot be improved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Expected uplift range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Team &amp; timeline for execution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Monthly release readiness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